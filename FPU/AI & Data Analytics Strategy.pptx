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ppt/slides/slide3.xml" ContentType="application/vnd.openxmlformats-officedocument.presentationml.slide+xml"/>
  <Default Extension="png" ContentType="image/png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0" i="0">
                <a:solidFill>
                  <a:srgbClr val="CCEB89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00" b="0" i="0">
                <a:solidFill>
                  <a:srgbClr val="CCEB89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5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7308372" y="10770614"/>
            <a:ext cx="2356485" cy="0"/>
          </a:xfrm>
          <a:custGeom>
            <a:avLst/>
            <a:gdLst/>
            <a:ahLst/>
            <a:cxnLst/>
            <a:rect l="l" t="t" r="r" b="b"/>
            <a:pathLst>
              <a:path w="2356484" h="0">
                <a:moveTo>
                  <a:pt x="0" y="0"/>
                </a:moveTo>
                <a:lnTo>
                  <a:pt x="2355949" y="0"/>
                </a:lnTo>
              </a:path>
            </a:pathLst>
          </a:custGeom>
          <a:ln w="39265">
            <a:solidFill>
              <a:srgbClr val="0008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5706" y="1083736"/>
            <a:ext cx="20080605" cy="777875"/>
          </a:xfrm>
          <a:custGeom>
            <a:avLst/>
            <a:gdLst/>
            <a:ahLst/>
            <a:cxnLst/>
            <a:rect l="l" t="t" r="r" b="b"/>
            <a:pathLst>
              <a:path w="20080605" h="777875">
                <a:moveTo>
                  <a:pt x="20080541" y="777463"/>
                </a:moveTo>
                <a:lnTo>
                  <a:pt x="0" y="77746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777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00" b="0" i="0">
                <a:solidFill>
                  <a:srgbClr val="CCEB89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5800" b="0" i="0">
                <a:solidFill>
                  <a:srgbClr val="CCEB89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7308372" y="10778467"/>
            <a:ext cx="2356485" cy="0"/>
          </a:xfrm>
          <a:custGeom>
            <a:avLst/>
            <a:gdLst/>
            <a:ahLst/>
            <a:cxnLst/>
            <a:rect l="l" t="t" r="r" b="b"/>
            <a:pathLst>
              <a:path w="2356484" h="0">
                <a:moveTo>
                  <a:pt x="0" y="0"/>
                </a:moveTo>
                <a:lnTo>
                  <a:pt x="2355949" y="0"/>
                </a:lnTo>
              </a:path>
            </a:pathLst>
          </a:custGeom>
          <a:ln w="39265">
            <a:solidFill>
              <a:srgbClr val="000C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5986" y="866853"/>
            <a:ext cx="12111575" cy="9683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00" b="0" i="0">
                <a:solidFill>
                  <a:srgbClr val="CCEB89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783570" y="4354551"/>
            <a:ext cx="14526260" cy="27984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4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jpg"/><Relationship Id="rId4" Type="http://schemas.openxmlformats.org/officeDocument/2006/relationships/image" Target="../media/image5.jpg"/><Relationship Id="rId5" Type="http://schemas.openxmlformats.org/officeDocument/2006/relationships/image" Target="../media/image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.jpg"/><Relationship Id="rId3" Type="http://schemas.openxmlformats.org/officeDocument/2006/relationships/image" Target="../media/image9.jpg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hyperlink" Target="http://www.yourcompany.com/" TargetMode="External"/><Relationship Id="rId4" Type="http://schemas.openxmlformats.org/officeDocument/2006/relationships/hyperlink" Target="mailto:contact@yourcompany.com" TargetMode="Externa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.jpg"/><Relationship Id="rId3" Type="http://schemas.openxmlformats.org/officeDocument/2006/relationships/image" Target="../media/image12.jpg"/><Relationship Id="rId4" Type="http://schemas.openxmlformats.org/officeDocument/2006/relationships/image" Target="../media/image13.jpg"/><Relationship Id="rId5" Type="http://schemas.openxmlformats.org/officeDocument/2006/relationships/image" Target="../media/image14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4334946"/>
            <a:ext cx="20088393" cy="1287918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3259063" y="2960642"/>
            <a:ext cx="13609955" cy="1264920"/>
          </a:xfrm>
          <a:custGeom>
            <a:avLst/>
            <a:gdLst/>
            <a:ahLst/>
            <a:cxnLst/>
            <a:rect l="l" t="t" r="r" b="b"/>
            <a:pathLst>
              <a:path w="13609955" h="1264920">
                <a:moveTo>
                  <a:pt x="13609534" y="1264359"/>
                </a:moveTo>
                <a:lnTo>
                  <a:pt x="0" y="1264359"/>
                </a:lnTo>
                <a:lnTo>
                  <a:pt x="0" y="0"/>
                </a:lnTo>
                <a:lnTo>
                  <a:pt x="13609534" y="0"/>
                </a:lnTo>
                <a:lnTo>
                  <a:pt x="13609534" y="126435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3237645" y="2540232"/>
            <a:ext cx="13597890" cy="1655445"/>
          </a:xfrm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10700" spc="-930">
                <a:solidFill>
                  <a:srgbClr val="FFFFFF"/>
                </a:solidFill>
              </a:rPr>
              <a:t>Why</a:t>
            </a:r>
            <a:r>
              <a:rPr dirty="0" sz="10700" spc="-190">
                <a:solidFill>
                  <a:srgbClr val="FFFFFF"/>
                </a:solidFill>
              </a:rPr>
              <a:t> </a:t>
            </a:r>
            <a:r>
              <a:rPr dirty="0" sz="10700" spc="-720">
                <a:solidFill>
                  <a:srgbClr val="FFFFFF"/>
                </a:solidFill>
              </a:rPr>
              <a:t>Our</a:t>
            </a:r>
            <a:r>
              <a:rPr dirty="0" sz="10700" spc="-265">
                <a:solidFill>
                  <a:srgbClr val="FFFFFF"/>
                </a:solidFill>
              </a:rPr>
              <a:t> </a:t>
            </a:r>
            <a:r>
              <a:rPr dirty="0" sz="10700" spc="-590">
                <a:solidFill>
                  <a:srgbClr val="FFFFFF"/>
                </a:solidFill>
              </a:rPr>
              <a:t>Compony</a:t>
            </a:r>
            <a:r>
              <a:rPr dirty="0" sz="10700" spc="220">
                <a:solidFill>
                  <a:srgbClr val="FFFFFF"/>
                </a:solidFill>
              </a:rPr>
              <a:t> </a:t>
            </a:r>
            <a:r>
              <a:rPr dirty="0" sz="10700" spc="-495">
                <a:solidFill>
                  <a:srgbClr val="FFFFFF"/>
                </a:solidFill>
              </a:rPr>
              <a:t>Must</a:t>
            </a:r>
            <a:endParaRPr sz="10700"/>
          </a:p>
        </p:txBody>
      </p:sp>
      <p:sp>
        <p:nvSpPr>
          <p:cNvPr id="5" name="object 5" descr=""/>
          <p:cNvSpPr/>
          <p:nvPr/>
        </p:nvSpPr>
        <p:spPr>
          <a:xfrm>
            <a:off x="15706" y="6015523"/>
            <a:ext cx="20080605" cy="463550"/>
          </a:xfrm>
          <a:custGeom>
            <a:avLst/>
            <a:gdLst/>
            <a:ahLst/>
            <a:cxnLst/>
            <a:rect l="l" t="t" r="r" b="b"/>
            <a:pathLst>
              <a:path w="20080605" h="463550">
                <a:moveTo>
                  <a:pt x="20080541" y="463336"/>
                </a:moveTo>
                <a:lnTo>
                  <a:pt x="0" y="46333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633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/>
          <p:nvPr/>
        </p:nvSpPr>
        <p:spPr>
          <a:xfrm>
            <a:off x="4062376" y="5866047"/>
            <a:ext cx="11931015" cy="59499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700">
                <a:solidFill>
                  <a:srgbClr val="AEAEAE"/>
                </a:solidFill>
                <a:latin typeface="Courier New"/>
                <a:cs typeface="Courier New"/>
              </a:rPr>
              <a:t>Weöceodyfveledfögüö—</a:t>
            </a:r>
            <a:r>
              <a:rPr dirty="0" sz="3700" spc="-10">
                <a:solidFill>
                  <a:srgbClr val="AEAEAE"/>
                </a:solidFill>
                <a:latin typeface="Courier New"/>
                <a:cs typeface="Courier New"/>
              </a:rPr>
              <a:t>novvreiuluMocKiepcofl</a:t>
            </a:r>
            <a:endParaRPr sz="3700">
              <a:latin typeface="Courier New"/>
              <a:cs typeface="Courier New"/>
            </a:endParaRPr>
          </a:p>
        </p:txBody>
      </p:sp>
      <p:sp>
        <p:nvSpPr>
          <p:cNvPr id="7" name="object 7" descr=""/>
          <p:cNvSpPr/>
          <p:nvPr/>
        </p:nvSpPr>
        <p:spPr>
          <a:xfrm>
            <a:off x="15706" y="8167290"/>
            <a:ext cx="20080605" cy="290830"/>
          </a:xfrm>
          <a:custGeom>
            <a:avLst/>
            <a:gdLst/>
            <a:ahLst/>
            <a:cxnLst/>
            <a:rect l="l" t="t" r="r" b="b"/>
            <a:pathLst>
              <a:path w="20080605" h="290829">
                <a:moveTo>
                  <a:pt x="20080541" y="290567"/>
                </a:moveTo>
                <a:lnTo>
                  <a:pt x="0" y="290567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9056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5183144" y="8070168"/>
            <a:ext cx="9704070" cy="4381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447925" algn="l"/>
                <a:tab pos="7405370" algn="l"/>
                <a:tab pos="8756650" algn="l"/>
              </a:tabLst>
            </a:pPr>
            <a:r>
              <a:rPr dirty="0" sz="2700" spc="-170">
                <a:solidFill>
                  <a:srgbClr val="A8A8A8"/>
                </a:solidFill>
                <a:latin typeface="Arial MT"/>
                <a:cs typeface="Arial MT"/>
              </a:rPr>
              <a:t>PREPARED</a:t>
            </a:r>
            <a:r>
              <a:rPr dirty="0" sz="2700" spc="50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700" spc="-280">
                <a:solidFill>
                  <a:srgbClr val="8EA5B1"/>
                </a:solidFill>
                <a:latin typeface="Arial MT"/>
                <a:cs typeface="Arial MT"/>
              </a:rPr>
              <a:t>BY</a:t>
            </a:r>
            <a:r>
              <a:rPr dirty="0" sz="2700">
                <a:solidFill>
                  <a:srgbClr val="8EA5B1"/>
                </a:solidFill>
                <a:latin typeface="Arial MT"/>
                <a:cs typeface="Arial MT"/>
              </a:rPr>
              <a:t>	</a:t>
            </a:r>
            <a:r>
              <a:rPr dirty="0" sz="2700">
                <a:solidFill>
                  <a:srgbClr val="A8A8A8"/>
                </a:solidFill>
                <a:latin typeface="Arial MT"/>
                <a:cs typeface="Arial MT"/>
              </a:rPr>
              <a:t>KAMAL</a:t>
            </a:r>
            <a:r>
              <a:rPr dirty="0" sz="2700" spc="2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700" spc="-90">
                <a:solidFill>
                  <a:srgbClr val="AAAAAA"/>
                </a:solidFill>
                <a:latin typeface="Arial MT"/>
                <a:cs typeface="Arial MT"/>
              </a:rPr>
              <a:t>HOS</a:t>
            </a:r>
            <a:r>
              <a:rPr dirty="0" sz="2700" spc="-345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A3A3A3"/>
                </a:solidFill>
                <a:latin typeface="Arial MT"/>
                <a:cs typeface="Arial MT"/>
              </a:rPr>
              <a:t>SAIN,</a:t>
            </a:r>
            <a:r>
              <a:rPr dirty="0" sz="2700" spc="100">
                <a:solidFill>
                  <a:srgbClr val="A3A3A3"/>
                </a:solidFill>
                <a:latin typeface="Arial MT"/>
                <a:cs typeface="Arial MT"/>
              </a:rPr>
              <a:t> </a:t>
            </a:r>
            <a:r>
              <a:rPr dirty="0" sz="2700" spc="-165">
                <a:solidFill>
                  <a:srgbClr val="A1A1A1"/>
                </a:solidFill>
                <a:latin typeface="Arial MT"/>
                <a:cs typeface="Arial MT"/>
              </a:rPr>
              <a:t>HU</a:t>
            </a:r>
            <a:r>
              <a:rPr dirty="0" sz="2700" spc="-434">
                <a:solidFill>
                  <a:srgbClr val="A1A1A1"/>
                </a:solidFill>
                <a:latin typeface="Arial MT"/>
                <a:cs typeface="Arial MT"/>
              </a:rPr>
              <a:t> </a:t>
            </a:r>
            <a:r>
              <a:rPr dirty="0" sz="2700" spc="-10">
                <a:solidFill>
                  <a:srgbClr val="A8A8A8"/>
                </a:solidFill>
                <a:latin typeface="Arial MT"/>
                <a:cs typeface="Arial MT"/>
              </a:rPr>
              <a:t>MAYUN,</a:t>
            </a:r>
            <a:r>
              <a:rPr dirty="0" sz="2700">
                <a:solidFill>
                  <a:srgbClr val="A8A8A8"/>
                </a:solidFill>
                <a:latin typeface="Arial MT"/>
                <a:cs typeface="Arial MT"/>
              </a:rPr>
              <a:t>	</a:t>
            </a:r>
            <a:r>
              <a:rPr dirty="0" sz="2700" spc="-10">
                <a:solidFill>
                  <a:srgbClr val="A8A8A8"/>
                </a:solidFill>
                <a:latin typeface="Arial MT"/>
                <a:cs typeface="Arial MT"/>
              </a:rPr>
              <a:t>SANDIL</a:t>
            </a:r>
            <a:r>
              <a:rPr dirty="0" sz="2700">
                <a:solidFill>
                  <a:srgbClr val="A8A8A8"/>
                </a:solidFill>
                <a:latin typeface="Arial MT"/>
                <a:cs typeface="Arial MT"/>
              </a:rPr>
              <a:t>	</a:t>
            </a:r>
            <a:r>
              <a:rPr dirty="0" sz="2700" spc="-20">
                <a:solidFill>
                  <a:srgbClr val="9CA3B5"/>
                </a:solidFill>
                <a:latin typeface="Arial MT"/>
                <a:cs typeface="Arial MT"/>
              </a:rPr>
              <a:t>AZAD</a:t>
            </a:r>
            <a:endParaRPr sz="2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2811432"/>
            <a:ext cx="20088393" cy="6282531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7308372" y="10778467"/>
            <a:ext cx="2356485" cy="0"/>
          </a:xfrm>
          <a:custGeom>
            <a:avLst/>
            <a:gdLst/>
            <a:ahLst/>
            <a:cxnLst/>
            <a:rect l="l" t="t" r="r" b="b"/>
            <a:pathLst>
              <a:path w="2356484" h="0">
                <a:moveTo>
                  <a:pt x="0" y="0"/>
                </a:moveTo>
                <a:lnTo>
                  <a:pt x="2355949" y="0"/>
                </a:lnTo>
              </a:path>
            </a:pathLst>
          </a:custGeom>
          <a:ln w="39265">
            <a:solidFill>
              <a:srgbClr val="0008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706" y="1068030"/>
            <a:ext cx="20080605" cy="793750"/>
          </a:xfrm>
          <a:custGeom>
            <a:avLst/>
            <a:gdLst/>
            <a:ahLst/>
            <a:cxnLst/>
            <a:rect l="l" t="t" r="r" b="b"/>
            <a:pathLst>
              <a:path w="20080605" h="793750">
                <a:moveTo>
                  <a:pt x="20080541" y="793169"/>
                </a:moveTo>
                <a:lnTo>
                  <a:pt x="0" y="79316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7931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25"/>
              </a:spcBef>
            </a:pPr>
            <a:r>
              <a:rPr dirty="0" sz="5900" spc="65">
                <a:solidFill>
                  <a:srgbClr val="DFFD9C"/>
                </a:solidFill>
              </a:rPr>
              <a:t>Digital</a:t>
            </a:r>
            <a:r>
              <a:rPr dirty="0" sz="5900" spc="-250">
                <a:solidFill>
                  <a:srgbClr val="DFFD9C"/>
                </a:solidFill>
              </a:rPr>
              <a:t> </a:t>
            </a:r>
            <a:r>
              <a:rPr dirty="0" sz="5900" spc="-10">
                <a:solidFill>
                  <a:srgbClr val="DDF99E"/>
                </a:solidFill>
              </a:rPr>
              <a:t>Foundation</a:t>
            </a:r>
            <a:r>
              <a:rPr dirty="0" sz="5900" spc="-20">
                <a:solidFill>
                  <a:srgbClr val="DDF99E"/>
                </a:solidFill>
              </a:rPr>
              <a:t> </a:t>
            </a:r>
            <a:r>
              <a:rPr dirty="0" sz="5900" spc="120">
                <a:solidFill>
                  <a:srgbClr val="DDFD99"/>
                </a:solidFill>
              </a:rPr>
              <a:t>to</a:t>
            </a:r>
            <a:r>
              <a:rPr dirty="0" sz="5900" spc="-355">
                <a:solidFill>
                  <a:srgbClr val="DDFD99"/>
                </a:solidFill>
              </a:rPr>
              <a:t> </a:t>
            </a:r>
            <a:r>
              <a:rPr dirty="0" sz="5900" spc="-10">
                <a:solidFill>
                  <a:srgbClr val="DFFD9A"/>
                </a:solidFill>
              </a:rPr>
              <a:t>Profit</a:t>
            </a:r>
            <a:endParaRPr sz="5900"/>
          </a:p>
        </p:txBody>
      </p:sp>
      <p:sp>
        <p:nvSpPr>
          <p:cNvPr id="6" name="object 6" descr=""/>
          <p:cNvSpPr/>
          <p:nvPr/>
        </p:nvSpPr>
        <p:spPr>
          <a:xfrm>
            <a:off x="950232" y="2866404"/>
            <a:ext cx="2568575" cy="236220"/>
          </a:xfrm>
          <a:custGeom>
            <a:avLst/>
            <a:gdLst/>
            <a:ahLst/>
            <a:cxnLst/>
            <a:rect l="l" t="t" r="r" b="b"/>
            <a:pathLst>
              <a:path w="2568575" h="236219">
                <a:moveTo>
                  <a:pt x="2567984" y="235594"/>
                </a:moveTo>
                <a:lnTo>
                  <a:pt x="0" y="235594"/>
                </a:lnTo>
                <a:lnTo>
                  <a:pt x="0" y="0"/>
                </a:lnTo>
                <a:lnTo>
                  <a:pt x="2567984" y="0"/>
                </a:lnTo>
                <a:lnTo>
                  <a:pt x="2567984" y="23559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941792" y="2779100"/>
            <a:ext cx="2597150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-235">
                <a:solidFill>
                  <a:srgbClr val="FFFFFF"/>
                </a:solidFill>
                <a:latin typeface="Arial MT"/>
                <a:cs typeface="Arial MT"/>
              </a:rPr>
              <a:t>We</a:t>
            </a:r>
            <a:r>
              <a:rPr dirty="0" sz="2300" spc="-20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FFFFFF"/>
                </a:solidFill>
                <a:latin typeface="Arial MT"/>
                <a:cs typeface="Arial MT"/>
              </a:rPr>
              <a:t>Hove</a:t>
            </a:r>
            <a:r>
              <a:rPr dirty="0" sz="230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FFFFFF"/>
                </a:solidFill>
                <a:latin typeface="Arial MT"/>
                <a:cs typeface="Arial MT"/>
              </a:rPr>
              <a:t>the </a:t>
            </a:r>
            <a:r>
              <a:rPr dirty="0" sz="2300" spc="-60">
                <a:solidFill>
                  <a:srgbClr val="FFFFFF"/>
                </a:solidFill>
                <a:latin typeface="Arial MT"/>
                <a:cs typeface="Arial MT"/>
              </a:rPr>
              <a:t>Assets:</a:t>
            </a:r>
            <a:endParaRPr sz="2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706" y="1068030"/>
            <a:ext cx="20080605" cy="793750"/>
          </a:xfrm>
          <a:custGeom>
            <a:avLst/>
            <a:gdLst/>
            <a:ahLst/>
            <a:cxnLst/>
            <a:rect l="l" t="t" r="r" b="b"/>
            <a:pathLst>
              <a:path w="20080605" h="793750">
                <a:moveTo>
                  <a:pt x="20080541" y="793169"/>
                </a:moveTo>
                <a:lnTo>
                  <a:pt x="0" y="79316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79316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6150" spc="-35">
                <a:solidFill>
                  <a:srgbClr val="DBFF9A"/>
                </a:solidFill>
              </a:rPr>
              <a:t>Profit</a:t>
            </a:r>
            <a:r>
              <a:rPr dirty="0" sz="6150" spc="-290">
                <a:solidFill>
                  <a:srgbClr val="DBFF9A"/>
                </a:solidFill>
              </a:rPr>
              <a:t> </a:t>
            </a:r>
            <a:r>
              <a:rPr dirty="0" sz="6150">
                <a:solidFill>
                  <a:srgbClr val="DAF793"/>
                </a:solidFill>
              </a:rPr>
              <a:t>&amp;</a:t>
            </a:r>
            <a:r>
              <a:rPr dirty="0" sz="6150" spc="-310">
                <a:solidFill>
                  <a:srgbClr val="DAF793"/>
                </a:solidFill>
              </a:rPr>
              <a:t> </a:t>
            </a:r>
            <a:r>
              <a:rPr dirty="0" sz="6150" spc="-265">
                <a:solidFill>
                  <a:srgbClr val="D4EF89"/>
                </a:solidFill>
              </a:rPr>
              <a:t>Cost:</a:t>
            </a:r>
            <a:r>
              <a:rPr dirty="0" sz="6150" spc="-165">
                <a:solidFill>
                  <a:srgbClr val="D4EF89"/>
                </a:solidFill>
              </a:rPr>
              <a:t> </a:t>
            </a:r>
            <a:r>
              <a:rPr dirty="0" sz="6150" spc="-45">
                <a:solidFill>
                  <a:srgbClr val="DFFF9C"/>
                </a:solidFill>
              </a:rPr>
              <a:t>Direct</a:t>
            </a:r>
            <a:r>
              <a:rPr dirty="0" sz="6150" spc="-50">
                <a:solidFill>
                  <a:srgbClr val="DFFF9C"/>
                </a:solidFill>
              </a:rPr>
              <a:t> </a:t>
            </a:r>
            <a:r>
              <a:rPr dirty="0" sz="6150" spc="-440">
                <a:solidFill>
                  <a:srgbClr val="DDFD95"/>
                </a:solidFill>
              </a:rPr>
              <a:t>Business</a:t>
            </a:r>
            <a:r>
              <a:rPr dirty="0" sz="6150" spc="20">
                <a:solidFill>
                  <a:srgbClr val="DDFD95"/>
                </a:solidFill>
              </a:rPr>
              <a:t> </a:t>
            </a:r>
            <a:r>
              <a:rPr dirty="0" sz="6150" spc="-10">
                <a:solidFill>
                  <a:srgbClr val="DFFF9A"/>
                </a:solidFill>
              </a:rPr>
              <a:t>Impact</a:t>
            </a:r>
            <a:endParaRPr sz="6150"/>
          </a:p>
        </p:txBody>
      </p:sp>
      <p:grpSp>
        <p:nvGrpSpPr>
          <p:cNvPr id="4" name="object 4" descr=""/>
          <p:cNvGrpSpPr/>
          <p:nvPr/>
        </p:nvGrpSpPr>
        <p:grpSpPr>
          <a:xfrm>
            <a:off x="15706" y="3486804"/>
            <a:ext cx="20088860" cy="659765"/>
            <a:chOff x="15706" y="3486804"/>
            <a:chExt cx="20088860" cy="65976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868687" y="3486804"/>
              <a:ext cx="4209295" cy="659665"/>
            </a:xfrm>
            <a:prstGeom prst="rect">
              <a:avLst/>
            </a:prstGeom>
          </p:spPr>
        </p:pic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617569" y="3486804"/>
              <a:ext cx="4209295" cy="659665"/>
            </a:xfrm>
            <a:prstGeom prst="rect">
              <a:avLst/>
            </a:prstGeom>
          </p:spPr>
        </p:pic>
        <p:pic>
          <p:nvPicPr>
            <p:cNvPr id="7" name="object 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97863" y="3518217"/>
              <a:ext cx="4209295" cy="628253"/>
            </a:xfrm>
            <a:prstGeom prst="rect">
              <a:avLst/>
            </a:prstGeom>
          </p:spPr>
        </p:pic>
        <p:pic>
          <p:nvPicPr>
            <p:cNvPr id="8" name="object 8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706" y="3486804"/>
              <a:ext cx="20088393" cy="659665"/>
            </a:xfrm>
            <a:prstGeom prst="rect">
              <a:avLst/>
            </a:prstGeom>
          </p:spPr>
        </p:pic>
      </p:grpSp>
      <p:sp>
        <p:nvSpPr>
          <p:cNvPr id="9" name="object 9" descr=""/>
          <p:cNvSpPr/>
          <p:nvPr/>
        </p:nvSpPr>
        <p:spPr>
          <a:xfrm>
            <a:off x="15706" y="4664779"/>
            <a:ext cx="20080605" cy="400685"/>
          </a:xfrm>
          <a:custGeom>
            <a:avLst/>
            <a:gdLst/>
            <a:ahLst/>
            <a:cxnLst/>
            <a:rect l="l" t="t" r="r" b="b"/>
            <a:pathLst>
              <a:path w="20080605" h="400685">
                <a:moveTo>
                  <a:pt x="20080541" y="400511"/>
                </a:moveTo>
                <a:lnTo>
                  <a:pt x="0" y="40051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0051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/>
          <p:nvPr/>
        </p:nvSpPr>
        <p:spPr>
          <a:xfrm>
            <a:off x="1410002" y="4566348"/>
            <a:ext cx="3274695" cy="477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Higher</a:t>
            </a:r>
            <a:r>
              <a:rPr dirty="0" sz="2950" spc="10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40">
                <a:solidFill>
                  <a:srgbClr val="FFFFFF"/>
                </a:solidFill>
                <a:latin typeface="Arial MT"/>
                <a:cs typeface="Arial MT"/>
              </a:rPr>
              <a:t>Productivity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1" name="object 11" descr=""/>
          <p:cNvSpPr txBox="1"/>
          <p:nvPr/>
        </p:nvSpPr>
        <p:spPr>
          <a:xfrm>
            <a:off x="7640130" y="4574202"/>
            <a:ext cx="3234690" cy="477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>
                <a:solidFill>
                  <a:srgbClr val="FFFFFF"/>
                </a:solidFill>
                <a:latin typeface="Arial MT"/>
                <a:cs typeface="Arial MT"/>
              </a:rPr>
              <a:t>Lower</a:t>
            </a:r>
            <a:r>
              <a:rPr dirty="0" sz="2950" spc="5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75">
                <a:solidFill>
                  <a:srgbClr val="FFFFFF"/>
                </a:solidFill>
                <a:latin typeface="Arial MT"/>
                <a:cs typeface="Arial MT"/>
              </a:rPr>
              <a:t>Quality</a:t>
            </a:r>
            <a:r>
              <a:rPr dirty="0" sz="2950" spc="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60">
                <a:solidFill>
                  <a:srgbClr val="FFFFFF"/>
                </a:solidFill>
                <a:latin typeface="Arial MT"/>
                <a:cs typeface="Arial MT"/>
              </a:rPr>
              <a:t>Cost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2" name="object 12" descr=""/>
          <p:cNvSpPr txBox="1"/>
          <p:nvPr/>
        </p:nvSpPr>
        <p:spPr>
          <a:xfrm>
            <a:off x="13875542" y="4574202"/>
            <a:ext cx="2547620" cy="477520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-180">
                <a:solidFill>
                  <a:srgbClr val="FFFFFF"/>
                </a:solidFill>
                <a:latin typeface="Arial MT"/>
                <a:cs typeface="Arial MT"/>
              </a:rPr>
              <a:t>Less</a:t>
            </a:r>
            <a:r>
              <a:rPr dirty="0" sz="295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950" spc="-10">
                <a:solidFill>
                  <a:srgbClr val="FFFFFF"/>
                </a:solidFill>
                <a:latin typeface="Arial MT"/>
                <a:cs typeface="Arial MT"/>
              </a:rPr>
              <a:t>Downtime</a:t>
            </a:r>
            <a:endParaRPr sz="2950">
              <a:latin typeface="Arial MT"/>
              <a:cs typeface="Arial MT"/>
            </a:endParaRPr>
          </a:p>
        </p:txBody>
      </p:sp>
      <p:sp>
        <p:nvSpPr>
          <p:cNvPr id="13" name="object 13" descr=""/>
          <p:cNvSpPr/>
          <p:nvPr/>
        </p:nvSpPr>
        <p:spPr>
          <a:xfrm>
            <a:off x="15706" y="5654278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 descr=""/>
          <p:cNvSpPr txBox="1"/>
          <p:nvPr/>
        </p:nvSpPr>
        <p:spPr>
          <a:xfrm>
            <a:off x="1432690" y="5591187"/>
            <a:ext cx="4441825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-155">
                <a:solidFill>
                  <a:srgbClr val="DFDFDF"/>
                </a:solidFill>
                <a:latin typeface="Arial MT"/>
                <a:cs typeface="Arial MT"/>
              </a:rPr>
              <a:t>AI</a:t>
            </a:r>
            <a:r>
              <a:rPr dirty="0" sz="2200" spc="20">
                <a:solidFill>
                  <a:srgbClr val="DFDFDF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D8D8D8"/>
                </a:solidFill>
                <a:latin typeface="Arial MT"/>
                <a:cs typeface="Arial MT"/>
              </a:rPr>
              <a:t>detects</a:t>
            </a:r>
            <a:r>
              <a:rPr dirty="0" sz="2200" spc="145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D6D6D6"/>
                </a:solidFill>
                <a:latin typeface="Arial MT"/>
                <a:cs typeface="Arial MT"/>
              </a:rPr>
              <a:t>low-efficiency</a:t>
            </a:r>
            <a:r>
              <a:rPr dirty="0" sz="2200" spc="50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dirty="0" sz="2200" spc="-85">
                <a:solidFill>
                  <a:srgbClr val="D1D1D1"/>
                </a:solidFill>
                <a:latin typeface="Arial MT"/>
                <a:cs typeface="Arial MT"/>
              </a:rPr>
              <a:t>lines</a:t>
            </a:r>
            <a:r>
              <a:rPr dirty="0" sz="2200" spc="90">
                <a:solidFill>
                  <a:srgbClr val="D1D1D1"/>
                </a:solidFill>
                <a:latin typeface="Arial MT"/>
                <a:cs typeface="Arial MT"/>
              </a:rPr>
              <a:t> </a:t>
            </a:r>
            <a:r>
              <a:rPr dirty="0" sz="2200" spc="-60">
                <a:solidFill>
                  <a:srgbClr val="CACACA"/>
                </a:solidFill>
                <a:latin typeface="Arial MT"/>
                <a:cs typeface="Arial MT"/>
              </a:rPr>
              <a:t>in</a:t>
            </a:r>
            <a:r>
              <a:rPr dirty="0" sz="2200" spc="-30">
                <a:solidFill>
                  <a:srgbClr val="CACACA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D6D6D6"/>
                </a:solidFill>
                <a:latin typeface="Arial MT"/>
                <a:cs typeface="Arial MT"/>
              </a:rPr>
              <a:t>real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5" name="object 15" descr=""/>
          <p:cNvSpPr txBox="1"/>
          <p:nvPr/>
        </p:nvSpPr>
        <p:spPr>
          <a:xfrm>
            <a:off x="7637025" y="5591187"/>
            <a:ext cx="4585970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-100">
                <a:solidFill>
                  <a:srgbClr val="DDDDDD"/>
                </a:solidFill>
                <a:latin typeface="Arial MT"/>
                <a:cs typeface="Arial MT"/>
              </a:rPr>
              <a:t>Finds</a:t>
            </a:r>
            <a:r>
              <a:rPr dirty="0" sz="2200" spc="6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DDDDDD"/>
                </a:solidFill>
                <a:latin typeface="Arial MT"/>
                <a:cs typeface="Arial MT"/>
              </a:rPr>
              <a:t>patterns</a:t>
            </a:r>
            <a:r>
              <a:rPr dirty="0" sz="2200" spc="40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200" spc="-60">
                <a:solidFill>
                  <a:srgbClr val="CCCCCC"/>
                </a:solidFill>
                <a:latin typeface="Arial MT"/>
                <a:cs typeface="Arial MT"/>
              </a:rPr>
              <a:t>in</a:t>
            </a:r>
            <a:r>
              <a:rPr dirty="0" sz="2200" spc="-105">
                <a:solidFill>
                  <a:srgbClr val="CCCCCC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DDDDDD"/>
                </a:solidFill>
                <a:latin typeface="Arial MT"/>
                <a:cs typeface="Arial MT"/>
              </a:rPr>
              <a:t>defects</a:t>
            </a:r>
            <a:r>
              <a:rPr dirty="0" sz="2200" spc="4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D1D1D1"/>
                </a:solidFill>
                <a:latin typeface="Arial MT"/>
                <a:cs typeface="Arial MT"/>
              </a:rPr>
              <a:t>by</a:t>
            </a:r>
            <a:r>
              <a:rPr dirty="0" sz="2200" spc="35">
                <a:solidFill>
                  <a:srgbClr val="D1D1D1"/>
                </a:solidFill>
                <a:latin typeface="Arial MT"/>
                <a:cs typeface="Arial MT"/>
              </a:rPr>
              <a:t> </a:t>
            </a:r>
            <a:r>
              <a:rPr dirty="0" sz="2200" spc="-40">
                <a:solidFill>
                  <a:srgbClr val="DDDDDD"/>
                </a:solidFill>
                <a:latin typeface="Arial MT"/>
                <a:cs typeface="Arial MT"/>
              </a:rPr>
              <a:t>style </a:t>
            </a:r>
            <a:r>
              <a:rPr dirty="0" sz="2200" spc="-25">
                <a:solidFill>
                  <a:srgbClr val="D6D6D6"/>
                </a:solidFill>
                <a:latin typeface="Arial MT"/>
                <a:cs typeface="Arial MT"/>
              </a:rPr>
              <a:t>and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6" name="object 16" descr=""/>
          <p:cNvSpPr txBox="1"/>
          <p:nvPr/>
        </p:nvSpPr>
        <p:spPr>
          <a:xfrm>
            <a:off x="13874607" y="5591187"/>
            <a:ext cx="3285490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-10">
                <a:solidFill>
                  <a:srgbClr val="D8D8D8"/>
                </a:solidFill>
                <a:latin typeface="Arial MT"/>
                <a:cs typeface="Arial MT"/>
              </a:rPr>
              <a:t>Machine</a:t>
            </a:r>
            <a:r>
              <a:rPr dirty="0" sz="2200" spc="-65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2200" spc="60">
                <a:solidFill>
                  <a:srgbClr val="D4D4D4"/>
                </a:solidFill>
                <a:latin typeface="Arial MT"/>
                <a:cs typeface="Arial MT"/>
              </a:rPr>
              <a:t>data</a:t>
            </a:r>
            <a:r>
              <a:rPr dirty="0" sz="2200" spc="-120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DDDDDD"/>
                </a:solidFill>
                <a:latin typeface="Arial MT"/>
                <a:cs typeface="Arial MT"/>
              </a:rPr>
              <a:t>+</a:t>
            </a:r>
            <a:r>
              <a:rPr dirty="0" sz="2200" spc="-6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200" spc="-155">
                <a:solidFill>
                  <a:srgbClr val="D3D3D3"/>
                </a:solidFill>
                <a:latin typeface="Arial MT"/>
                <a:cs typeface="Arial MT"/>
              </a:rPr>
              <a:t>AI</a:t>
            </a:r>
            <a:r>
              <a:rPr dirty="0" sz="2200" spc="-85">
                <a:solidFill>
                  <a:srgbClr val="D3D3D3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D8D8D8"/>
                </a:solidFill>
                <a:latin typeface="Arial MT"/>
                <a:cs typeface="Arial MT"/>
              </a:rPr>
              <a:t>predicts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7" name="object 17" descr=""/>
          <p:cNvSpPr/>
          <p:nvPr/>
        </p:nvSpPr>
        <p:spPr>
          <a:xfrm>
            <a:off x="15706" y="6109761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 descr=""/>
          <p:cNvSpPr txBox="1"/>
          <p:nvPr/>
        </p:nvSpPr>
        <p:spPr>
          <a:xfrm>
            <a:off x="1419539" y="6046670"/>
            <a:ext cx="4693920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-35">
                <a:solidFill>
                  <a:srgbClr val="D4D4D4"/>
                </a:solidFill>
                <a:latin typeface="Arial MT"/>
                <a:cs typeface="Arial MT"/>
              </a:rPr>
              <a:t>time.</a:t>
            </a:r>
            <a:r>
              <a:rPr dirty="0" sz="2200" spc="-13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00" spc="-60">
                <a:solidFill>
                  <a:srgbClr val="DADADA"/>
                </a:solidFill>
                <a:latin typeface="Arial MT"/>
                <a:cs typeface="Arial MT"/>
              </a:rPr>
              <a:t>Even</a:t>
            </a:r>
            <a:r>
              <a:rPr dirty="0" sz="2200" spc="-95">
                <a:solidFill>
                  <a:srgbClr val="DADADA"/>
                </a:solidFill>
                <a:latin typeface="Arial MT"/>
                <a:cs typeface="Arial MT"/>
              </a:rPr>
              <a:t> </a:t>
            </a:r>
            <a:r>
              <a:rPr dirty="0" sz="2200" spc="-434">
                <a:solidFill>
                  <a:srgbClr val="DBDBDB"/>
                </a:solidFill>
                <a:latin typeface="Arial MT"/>
                <a:cs typeface="Arial MT"/>
              </a:rPr>
              <a:t>3—</a:t>
            </a:r>
            <a:r>
              <a:rPr dirty="0" sz="2200" spc="-400">
                <a:solidFill>
                  <a:srgbClr val="DBDBDB"/>
                </a:solidFill>
                <a:latin typeface="Arial MT"/>
                <a:cs typeface="Arial MT"/>
              </a:rPr>
              <a:t>5%</a:t>
            </a:r>
            <a:r>
              <a:rPr dirty="0" sz="2200" spc="9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DADADA"/>
                </a:solidFill>
                <a:latin typeface="Arial MT"/>
                <a:cs typeface="Arial MT"/>
              </a:rPr>
              <a:t>efficiency</a:t>
            </a:r>
            <a:r>
              <a:rPr dirty="0" sz="2200" spc="-15">
                <a:solidFill>
                  <a:srgbClr val="DADADA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D6D6D6"/>
                </a:solidFill>
                <a:latin typeface="Arial MT"/>
                <a:cs typeface="Arial MT"/>
              </a:rPr>
              <a:t>gain</a:t>
            </a:r>
            <a:r>
              <a:rPr dirty="0" sz="2200" spc="-140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dirty="0" sz="2200" spc="-20">
                <a:solidFill>
                  <a:srgbClr val="D8D8D8"/>
                </a:solidFill>
                <a:latin typeface="Arial MT"/>
                <a:cs typeface="Arial MT"/>
              </a:rPr>
              <a:t>equals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7649406" y="6046670"/>
            <a:ext cx="4675505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-30">
                <a:solidFill>
                  <a:srgbClr val="D4D4D4"/>
                </a:solidFill>
                <a:latin typeface="Arial MT"/>
                <a:cs typeface="Arial MT"/>
              </a:rPr>
              <a:t>fabric.</a:t>
            </a:r>
            <a:r>
              <a:rPr dirty="0" sz="2200" spc="-12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00" spc="-65">
                <a:solidFill>
                  <a:srgbClr val="DBDBDB"/>
                </a:solidFill>
                <a:latin typeface="Arial MT"/>
                <a:cs typeface="Arial MT"/>
              </a:rPr>
              <a:t>Predicts </a:t>
            </a:r>
            <a:r>
              <a:rPr dirty="0" sz="2200">
                <a:solidFill>
                  <a:srgbClr val="DADADA"/>
                </a:solidFill>
                <a:latin typeface="Arial MT"/>
                <a:cs typeface="Arial MT"/>
              </a:rPr>
              <a:t>problems</a:t>
            </a:r>
            <a:r>
              <a:rPr dirty="0" sz="2200" spc="20">
                <a:solidFill>
                  <a:srgbClr val="DADADA"/>
                </a:solidFill>
                <a:latin typeface="Arial MT"/>
                <a:cs typeface="Arial MT"/>
              </a:rPr>
              <a:t> </a:t>
            </a:r>
            <a:r>
              <a:rPr dirty="0" sz="2200" spc="-70">
                <a:solidFill>
                  <a:srgbClr val="DBDBDB"/>
                </a:solidFill>
                <a:latin typeface="Arial MT"/>
                <a:cs typeface="Arial MT"/>
              </a:rPr>
              <a:t>early,</a:t>
            </a:r>
            <a:r>
              <a:rPr dirty="0" sz="2200" spc="-8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DBDBDB"/>
                </a:solidFill>
                <a:latin typeface="Arial MT"/>
                <a:cs typeface="Arial MT"/>
              </a:rPr>
              <a:t>leading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20" name="object 20" descr=""/>
          <p:cNvSpPr txBox="1"/>
          <p:nvPr/>
        </p:nvSpPr>
        <p:spPr>
          <a:xfrm>
            <a:off x="13875982" y="6030309"/>
            <a:ext cx="4679315" cy="37909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dirty="0" sz="2300" spc="-45">
                <a:solidFill>
                  <a:srgbClr val="D8D8D8"/>
                </a:solidFill>
                <a:latin typeface="Arial MT"/>
                <a:cs typeface="Arial MT"/>
              </a:rPr>
              <a:t>breakdowns</a:t>
            </a:r>
            <a:r>
              <a:rPr dirty="0" sz="2300" spc="-70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D8D8D8"/>
                </a:solidFill>
                <a:latin typeface="Arial MT"/>
                <a:cs typeface="Arial MT"/>
              </a:rPr>
              <a:t>before</a:t>
            </a:r>
            <a:r>
              <a:rPr dirty="0" sz="2300" spc="-120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2300" spc="-75">
                <a:solidFill>
                  <a:srgbClr val="DBDBDB"/>
                </a:solidFill>
                <a:latin typeface="Arial MT"/>
                <a:cs typeface="Arial MT"/>
              </a:rPr>
              <a:t>they</a:t>
            </a:r>
            <a:r>
              <a:rPr dirty="0" sz="2300" spc="-85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300" spc="-50">
                <a:solidFill>
                  <a:srgbClr val="DBDBDB"/>
                </a:solidFill>
                <a:latin typeface="Arial MT"/>
                <a:cs typeface="Arial MT"/>
              </a:rPr>
              <a:t>happen.</a:t>
            </a:r>
            <a:r>
              <a:rPr dirty="0" sz="2300" spc="-11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300" spc="-110">
                <a:solidFill>
                  <a:srgbClr val="D3D3D3"/>
                </a:solidFill>
                <a:latin typeface="Arial MT"/>
                <a:cs typeface="Arial MT"/>
              </a:rPr>
              <a:t>Plan</a:t>
            </a:r>
            <a:endParaRPr sz="2300">
              <a:latin typeface="Arial MT"/>
              <a:cs typeface="Arial MT"/>
            </a:endParaRPr>
          </a:p>
        </p:txBody>
      </p:sp>
      <p:sp>
        <p:nvSpPr>
          <p:cNvPr id="21" name="object 21" descr=""/>
          <p:cNvSpPr/>
          <p:nvPr/>
        </p:nvSpPr>
        <p:spPr>
          <a:xfrm>
            <a:off x="15706" y="6565245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 descr=""/>
          <p:cNvSpPr txBox="1"/>
          <p:nvPr/>
        </p:nvSpPr>
        <p:spPr>
          <a:xfrm>
            <a:off x="1413947" y="6502153"/>
            <a:ext cx="4619625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-35">
                <a:solidFill>
                  <a:srgbClr val="E2E2E2"/>
                </a:solidFill>
                <a:latin typeface="Arial MT"/>
                <a:cs typeface="Arial MT"/>
              </a:rPr>
              <a:t>massive</a:t>
            </a:r>
            <a:r>
              <a:rPr dirty="0" sz="2200" spc="-20">
                <a:solidFill>
                  <a:srgbClr val="E2E2E2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DDDDDD"/>
                </a:solidFill>
                <a:latin typeface="Arial MT"/>
                <a:cs typeface="Arial MT"/>
              </a:rPr>
              <a:t>overtime</a:t>
            </a:r>
            <a:r>
              <a:rPr dirty="0" sz="2200" spc="-55">
                <a:solidFill>
                  <a:srgbClr val="DDDDDD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D4D4D4"/>
                </a:solidFill>
                <a:latin typeface="Arial MT"/>
                <a:cs typeface="Arial MT"/>
              </a:rPr>
              <a:t>and</a:t>
            </a:r>
            <a:r>
              <a:rPr dirty="0" sz="2200" spc="-15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D6D6D6"/>
                </a:solidFill>
                <a:latin typeface="Arial MT"/>
                <a:cs typeface="Arial MT"/>
              </a:rPr>
              <a:t>cost</a:t>
            </a:r>
            <a:r>
              <a:rPr dirty="0" sz="2200" spc="-20">
                <a:solidFill>
                  <a:srgbClr val="D6D6D6"/>
                </a:solidFill>
                <a:latin typeface="Arial MT"/>
                <a:cs typeface="Arial MT"/>
              </a:rPr>
              <a:t> </a:t>
            </a:r>
            <a:r>
              <a:rPr dirty="0" sz="2200" spc="-35">
                <a:solidFill>
                  <a:srgbClr val="D8D8D8"/>
                </a:solidFill>
                <a:latin typeface="Arial MT"/>
                <a:cs typeface="Arial MT"/>
              </a:rPr>
              <a:t>savings</a:t>
            </a:r>
            <a:r>
              <a:rPr dirty="0" sz="2200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2200" spc="-25">
                <a:solidFill>
                  <a:srgbClr val="D3D3D3"/>
                </a:solidFill>
                <a:latin typeface="Arial MT"/>
                <a:cs typeface="Arial MT"/>
              </a:rPr>
              <a:t>at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23" name="object 23" descr=""/>
          <p:cNvSpPr txBox="1"/>
          <p:nvPr/>
        </p:nvSpPr>
        <p:spPr>
          <a:xfrm>
            <a:off x="7647099" y="6502153"/>
            <a:ext cx="4331970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50">
                <a:solidFill>
                  <a:srgbClr val="D4D4D4"/>
                </a:solidFill>
                <a:latin typeface="Arial MT"/>
                <a:cs typeface="Arial MT"/>
              </a:rPr>
              <a:t>to</a:t>
            </a:r>
            <a:r>
              <a:rPr dirty="0" sz="2200" spc="-105">
                <a:solidFill>
                  <a:srgbClr val="D4D4D4"/>
                </a:solidFill>
                <a:latin typeface="Arial MT"/>
                <a:cs typeface="Arial MT"/>
              </a:rPr>
              <a:t> </a:t>
            </a:r>
            <a:r>
              <a:rPr dirty="0" sz="2200" spc="-114">
                <a:solidFill>
                  <a:srgbClr val="DBDBDB"/>
                </a:solidFill>
                <a:latin typeface="Arial MT"/>
                <a:cs typeface="Arial MT"/>
              </a:rPr>
              <a:t>less</a:t>
            </a:r>
            <a:r>
              <a:rPr dirty="0" sz="2200" spc="4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D8D8D8"/>
                </a:solidFill>
                <a:latin typeface="Arial MT"/>
                <a:cs typeface="Arial MT"/>
              </a:rPr>
              <a:t>rework</a:t>
            </a:r>
            <a:r>
              <a:rPr dirty="0" sz="2200" spc="165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CFCFCF"/>
                </a:solidFill>
                <a:latin typeface="Arial MT"/>
                <a:cs typeface="Arial MT"/>
              </a:rPr>
              <a:t>and</a:t>
            </a:r>
            <a:r>
              <a:rPr dirty="0" sz="2200" spc="55">
                <a:solidFill>
                  <a:srgbClr val="CFCFCF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DADADA"/>
                </a:solidFill>
                <a:latin typeface="Arial MT"/>
                <a:cs typeface="Arial MT"/>
              </a:rPr>
              <a:t>fewer</a:t>
            </a:r>
            <a:r>
              <a:rPr dirty="0" sz="2200" spc="50">
                <a:solidFill>
                  <a:srgbClr val="DADADA"/>
                </a:solidFill>
                <a:latin typeface="Arial MT"/>
                <a:cs typeface="Arial MT"/>
              </a:rPr>
              <a:t> </a:t>
            </a:r>
            <a:r>
              <a:rPr dirty="0" sz="2200" spc="-45">
                <a:solidFill>
                  <a:srgbClr val="DBDBDB"/>
                </a:solidFill>
                <a:latin typeface="Arial MT"/>
                <a:cs typeface="Arial MT"/>
              </a:rPr>
              <a:t>rejections.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24" name="object 24" descr=""/>
          <p:cNvSpPr txBox="1"/>
          <p:nvPr/>
        </p:nvSpPr>
        <p:spPr>
          <a:xfrm>
            <a:off x="13876915" y="6502153"/>
            <a:ext cx="4762500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>
                <a:solidFill>
                  <a:srgbClr val="D8D8D8"/>
                </a:solidFill>
                <a:latin typeface="Arial MT"/>
                <a:cs typeface="Arial MT"/>
              </a:rPr>
              <a:t>maintenance</a:t>
            </a:r>
            <a:r>
              <a:rPr dirty="0" sz="2200" spc="65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DBDBDB"/>
                </a:solidFill>
                <a:latin typeface="Arial MT"/>
                <a:cs typeface="Arial MT"/>
              </a:rPr>
              <a:t>smartly</a:t>
            </a:r>
            <a:r>
              <a:rPr dirty="0" sz="2200" spc="4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200">
                <a:solidFill>
                  <a:srgbClr val="DBDBDB"/>
                </a:solidFill>
                <a:latin typeface="Arial MT"/>
                <a:cs typeface="Arial MT"/>
              </a:rPr>
              <a:t>for</a:t>
            </a:r>
            <a:r>
              <a:rPr dirty="0" sz="2200" spc="-65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DBDBDB"/>
                </a:solidFill>
                <a:latin typeface="Arial MT"/>
                <a:cs typeface="Arial MT"/>
              </a:rPr>
              <a:t>stable</a:t>
            </a:r>
            <a:r>
              <a:rPr dirty="0" sz="2200" spc="-100">
                <a:solidFill>
                  <a:srgbClr val="DBDBDB"/>
                </a:solidFill>
                <a:latin typeface="Arial MT"/>
                <a:cs typeface="Arial MT"/>
              </a:rPr>
              <a:t> </a:t>
            </a:r>
            <a:r>
              <a:rPr dirty="0" sz="2200" spc="-10">
                <a:solidFill>
                  <a:srgbClr val="DBDBDB"/>
                </a:solidFill>
                <a:latin typeface="Arial MT"/>
                <a:cs typeface="Arial MT"/>
              </a:rPr>
              <a:t>output.</a:t>
            </a:r>
            <a:endParaRPr sz="2200">
              <a:latin typeface="Arial MT"/>
              <a:cs typeface="Arial MT"/>
            </a:endParaRPr>
          </a:p>
        </p:txBody>
      </p:sp>
      <p:sp>
        <p:nvSpPr>
          <p:cNvPr id="25" name="object 25" descr=""/>
          <p:cNvSpPr/>
          <p:nvPr/>
        </p:nvSpPr>
        <p:spPr>
          <a:xfrm>
            <a:off x="15706" y="7005022"/>
            <a:ext cx="20080605" cy="243840"/>
          </a:xfrm>
          <a:custGeom>
            <a:avLst/>
            <a:gdLst/>
            <a:ahLst/>
            <a:cxnLst/>
            <a:rect l="l" t="t" r="r" b="b"/>
            <a:pathLst>
              <a:path w="20080605" h="243840">
                <a:moveTo>
                  <a:pt x="20080541" y="243448"/>
                </a:moveTo>
                <a:lnTo>
                  <a:pt x="0" y="24344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434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 descr=""/>
          <p:cNvSpPr txBox="1"/>
          <p:nvPr/>
        </p:nvSpPr>
        <p:spPr>
          <a:xfrm>
            <a:off x="1415194" y="6941931"/>
            <a:ext cx="1149350" cy="35941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dirty="0" sz="2200" spc="-40">
                <a:solidFill>
                  <a:srgbClr val="D1D1D1"/>
                </a:solidFill>
                <a:latin typeface="Arial MT"/>
                <a:cs typeface="Arial MT"/>
              </a:rPr>
              <a:t>our</a:t>
            </a:r>
            <a:r>
              <a:rPr dirty="0" sz="2200" spc="-105">
                <a:solidFill>
                  <a:srgbClr val="D1D1D1"/>
                </a:solidFill>
                <a:latin typeface="Arial MT"/>
                <a:cs typeface="Arial MT"/>
              </a:rPr>
              <a:t> </a:t>
            </a:r>
            <a:r>
              <a:rPr dirty="0" sz="2200" spc="-80">
                <a:solidFill>
                  <a:srgbClr val="D4D4D4"/>
                </a:solidFill>
                <a:latin typeface="Arial MT"/>
                <a:cs typeface="Arial MT"/>
              </a:rPr>
              <a:t>scale.</a:t>
            </a:r>
            <a:endParaRPr sz="22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20104100" cy="1130855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147" rIns="0" bIns="0" rtlCol="0" vert="horz">
            <a:spAutoFit/>
          </a:bodyPr>
          <a:lstStyle/>
          <a:p>
            <a:pPr marL="32384">
              <a:lnSpc>
                <a:spcPct val="100000"/>
              </a:lnSpc>
              <a:spcBef>
                <a:spcPts val="95"/>
              </a:spcBef>
            </a:pPr>
            <a:r>
              <a:rPr dirty="0" spc="114">
                <a:solidFill>
                  <a:srgbClr val="DDFF90"/>
                </a:solidFill>
              </a:rPr>
              <a:t>Smarter</a:t>
            </a:r>
            <a:r>
              <a:rPr dirty="0" spc="420">
                <a:solidFill>
                  <a:srgbClr val="DDFF90"/>
                </a:solidFill>
              </a:rPr>
              <a:t> </a:t>
            </a:r>
            <a:r>
              <a:rPr dirty="0" spc="55">
                <a:solidFill>
                  <a:srgbClr val="DFFD9C"/>
                </a:solidFill>
              </a:rPr>
              <a:t>Operations</a:t>
            </a:r>
            <a:r>
              <a:rPr dirty="0" spc="265">
                <a:solidFill>
                  <a:srgbClr val="DFFD9C"/>
                </a:solidFill>
              </a:rPr>
              <a:t> </a:t>
            </a:r>
            <a:r>
              <a:rPr dirty="0" spc="150">
                <a:solidFill>
                  <a:srgbClr val="D6F99E"/>
                </a:solidFill>
              </a:rPr>
              <a:t>&amp;</a:t>
            </a:r>
            <a:r>
              <a:rPr dirty="0" spc="-10">
                <a:solidFill>
                  <a:srgbClr val="D6F99E"/>
                </a:solidFill>
              </a:rPr>
              <a:t> </a:t>
            </a:r>
            <a:r>
              <a:rPr dirty="0" spc="-10">
                <a:solidFill>
                  <a:srgbClr val="DFFF9C"/>
                </a:solidFill>
              </a:rPr>
              <a:t>Planning</a:t>
            </a:r>
          </a:p>
        </p:txBody>
      </p:sp>
      <p:sp>
        <p:nvSpPr>
          <p:cNvPr id="3" name="object 3" descr=""/>
          <p:cNvSpPr/>
          <p:nvPr/>
        </p:nvSpPr>
        <p:spPr>
          <a:xfrm>
            <a:off x="15706" y="3533923"/>
            <a:ext cx="20080605" cy="463550"/>
          </a:xfrm>
          <a:custGeom>
            <a:avLst/>
            <a:gdLst/>
            <a:ahLst/>
            <a:cxnLst/>
            <a:rect l="l" t="t" r="r" b="b"/>
            <a:pathLst>
              <a:path w="20080605" h="463550">
                <a:moveTo>
                  <a:pt x="20080541" y="463336"/>
                </a:moveTo>
                <a:lnTo>
                  <a:pt x="0" y="46333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633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/>
          <p:nvPr/>
        </p:nvSpPr>
        <p:spPr>
          <a:xfrm>
            <a:off x="1563642" y="3408662"/>
            <a:ext cx="4556125" cy="575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spc="-30">
                <a:solidFill>
                  <a:srgbClr val="DBF6AC"/>
                </a:solidFill>
                <a:latin typeface="Arial MT"/>
                <a:cs typeface="Arial MT"/>
              </a:rPr>
              <a:t>Benefits</a:t>
            </a:r>
            <a:r>
              <a:rPr dirty="0" sz="3600" spc="-10">
                <a:solidFill>
                  <a:srgbClr val="DBF6AC"/>
                </a:solidFill>
                <a:latin typeface="Arial MT"/>
                <a:cs typeface="Arial MT"/>
              </a:rPr>
              <a:t> </a:t>
            </a:r>
            <a:r>
              <a:rPr dirty="0" sz="3600">
                <a:solidFill>
                  <a:srgbClr val="EBFFA1"/>
                </a:solidFill>
                <a:latin typeface="Arial MT"/>
                <a:cs typeface="Arial MT"/>
              </a:rPr>
              <a:t>for</a:t>
            </a:r>
            <a:r>
              <a:rPr dirty="0" sz="3600" spc="-95">
                <a:solidFill>
                  <a:srgbClr val="EBFFA1"/>
                </a:solidFill>
                <a:latin typeface="Arial MT"/>
                <a:cs typeface="Arial MT"/>
              </a:rPr>
              <a:t> </a:t>
            </a:r>
            <a:r>
              <a:rPr dirty="0" sz="3600" spc="-110">
                <a:solidFill>
                  <a:srgbClr val="DFF4A5"/>
                </a:solidFill>
                <a:latin typeface="Arial MT"/>
                <a:cs typeface="Arial MT"/>
              </a:rPr>
              <a:t>Employees</a:t>
            </a:r>
            <a:endParaRPr sz="3600">
              <a:latin typeface="Arial MT"/>
              <a:cs typeface="Arial MT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5706" y="4837548"/>
            <a:ext cx="20080605" cy="337820"/>
          </a:xfrm>
          <a:custGeom>
            <a:avLst/>
            <a:gdLst/>
            <a:ahLst/>
            <a:cxnLst/>
            <a:rect l="l" t="t" r="r" b="b"/>
            <a:pathLst>
              <a:path w="20080605" h="337820">
                <a:moveTo>
                  <a:pt x="20080541" y="337686"/>
                </a:moveTo>
                <a:lnTo>
                  <a:pt x="0" y="33768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37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5706" y="5340151"/>
            <a:ext cx="20080605" cy="573405"/>
          </a:xfrm>
          <a:custGeom>
            <a:avLst/>
            <a:gdLst/>
            <a:ahLst/>
            <a:cxnLst/>
            <a:rect l="l" t="t" r="r" b="b"/>
            <a:pathLst>
              <a:path w="20080605" h="573404">
                <a:moveTo>
                  <a:pt x="20080541" y="573281"/>
                </a:moveTo>
                <a:lnTo>
                  <a:pt x="0" y="57328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57328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/>
          <p:nvPr/>
        </p:nvSpPr>
        <p:spPr>
          <a:xfrm>
            <a:off x="11692299" y="5260045"/>
            <a:ext cx="751205" cy="3987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450" spc="-204">
                <a:solidFill>
                  <a:srgbClr val="EFEFEF"/>
                </a:solidFill>
                <a:latin typeface="Consolas"/>
                <a:cs typeface="Consolas"/>
              </a:rPr>
              <a:t>stye.</a:t>
            </a:r>
            <a:endParaRPr sz="2450">
              <a:latin typeface="Consolas"/>
              <a:cs typeface="Consolas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15706" y="6078349"/>
            <a:ext cx="20080605" cy="1076325"/>
          </a:xfrm>
          <a:custGeom>
            <a:avLst/>
            <a:gdLst/>
            <a:ahLst/>
            <a:cxnLst/>
            <a:rect l="l" t="t" r="r" b="b"/>
            <a:pathLst>
              <a:path w="20080605" h="1076325">
                <a:moveTo>
                  <a:pt x="20080541" y="1075883"/>
                </a:moveTo>
                <a:lnTo>
                  <a:pt x="0" y="107588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107588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1725158" y="4773803"/>
            <a:ext cx="7178675" cy="2361565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3335">
              <a:lnSpc>
                <a:spcPct val="100000"/>
              </a:lnSpc>
              <a:spcBef>
                <a:spcPts val="114"/>
              </a:spcBef>
              <a:tabLst>
                <a:tab pos="404495" algn="l"/>
              </a:tabLst>
            </a:pPr>
            <a:r>
              <a:rPr dirty="0" sz="2300" spc="25">
                <a:solidFill>
                  <a:srgbClr val="18DBFF"/>
                </a:solidFill>
                <a:latin typeface="Arial MT"/>
                <a:cs typeface="Arial MT"/>
              </a:rPr>
              <a:t>»</a:t>
            </a:r>
            <a:r>
              <a:rPr dirty="0" sz="2300">
                <a:solidFill>
                  <a:srgbClr val="18DBFF"/>
                </a:solidFill>
                <a:latin typeface="Arial MT"/>
                <a:cs typeface="Arial MT"/>
              </a:rPr>
              <a:t>	</a:t>
            </a:r>
            <a:r>
              <a:rPr dirty="0" sz="2300" spc="-20">
                <a:solidFill>
                  <a:srgbClr val="FFFFFF"/>
                </a:solidFill>
                <a:latin typeface="Arial MT"/>
                <a:cs typeface="Arial MT"/>
              </a:rPr>
              <a:t>Less</a:t>
            </a:r>
            <a:r>
              <a:rPr dirty="0" sz="2300" spc="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00" spc="90">
                <a:solidFill>
                  <a:srgbClr val="FFFFFF"/>
                </a:solidFill>
                <a:latin typeface="Arial MT"/>
                <a:cs typeface="Arial MT"/>
              </a:rPr>
              <a:t>last-</a:t>
            </a:r>
            <a:r>
              <a:rPr dirty="0" sz="2300" spc="120">
                <a:solidFill>
                  <a:srgbClr val="FFFFFF"/>
                </a:solidFill>
                <a:latin typeface="Arial MT"/>
                <a:cs typeface="Arial MT"/>
              </a:rPr>
              <a:t>minute</a:t>
            </a:r>
            <a:r>
              <a:rPr dirty="0" sz="2300" spc="1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00" spc="60">
                <a:solidFill>
                  <a:srgbClr val="FFFFFF"/>
                </a:solidFill>
                <a:latin typeface="Arial MT"/>
                <a:cs typeface="Arial MT"/>
              </a:rPr>
              <a:t>firefighting,</a:t>
            </a:r>
            <a:r>
              <a:rPr dirty="0" sz="2300" spc="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00" spc="100">
                <a:solidFill>
                  <a:srgbClr val="EDEDED"/>
                </a:solidFill>
                <a:latin typeface="Arial MT"/>
                <a:cs typeface="Arial MT"/>
              </a:rPr>
              <a:t>more</a:t>
            </a:r>
            <a:r>
              <a:rPr dirty="0" sz="2300" spc="-10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dirty="0" sz="2300" spc="110">
                <a:solidFill>
                  <a:srgbClr val="FFFFFF"/>
                </a:solidFill>
                <a:latin typeface="Arial MT"/>
                <a:cs typeface="Arial MT"/>
              </a:rPr>
              <a:t>planned</a:t>
            </a:r>
            <a:r>
              <a:rPr dirty="0" sz="2300" spc="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EDEDED"/>
                </a:solidFill>
                <a:latin typeface="Arial MT"/>
                <a:cs typeface="Arial MT"/>
              </a:rPr>
              <a:t>work.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409"/>
              </a:spcBef>
            </a:pPr>
            <a:endParaRPr sz="2300">
              <a:latin typeface="Arial MT"/>
              <a:cs typeface="Arial MT"/>
            </a:endParaRPr>
          </a:p>
          <a:p>
            <a:pPr marL="13335">
              <a:lnSpc>
                <a:spcPct val="100000"/>
              </a:lnSpc>
              <a:tabLst>
                <a:tab pos="404495" algn="l"/>
              </a:tabLst>
            </a:pPr>
            <a:r>
              <a:rPr dirty="0" sz="2300" spc="-50">
                <a:solidFill>
                  <a:srgbClr val="1DD4F4"/>
                </a:solidFill>
                <a:latin typeface="Arial MT"/>
                <a:cs typeface="Arial MT"/>
              </a:rPr>
              <a:t>»</a:t>
            </a:r>
            <a:r>
              <a:rPr dirty="0" sz="2300">
                <a:solidFill>
                  <a:srgbClr val="1DD4F4"/>
                </a:solidFill>
                <a:latin typeface="Arial MT"/>
                <a:cs typeface="Arial MT"/>
              </a:rPr>
              <a:t>	</a:t>
            </a:r>
            <a:r>
              <a:rPr dirty="0" sz="2300" spc="60">
                <a:solidFill>
                  <a:srgbClr val="FFFFFF"/>
                </a:solidFill>
                <a:latin typeface="Arial MT"/>
                <a:cs typeface="Arial MT"/>
              </a:rPr>
              <a:t>Better</a:t>
            </a:r>
            <a:r>
              <a:rPr dirty="0" sz="2300" spc="3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FFFFFF"/>
                </a:solidFill>
                <a:latin typeface="Arial MT"/>
                <a:cs typeface="Arial MT"/>
              </a:rPr>
              <a:t>fools</a:t>
            </a:r>
            <a:r>
              <a:rPr dirty="0" sz="2300" spc="13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00" spc="65">
                <a:solidFill>
                  <a:srgbClr val="FFFFFF"/>
                </a:solidFill>
                <a:latin typeface="Arial MT"/>
                <a:cs typeface="Arial MT"/>
              </a:rPr>
              <a:t>(dashboards)</a:t>
            </a:r>
            <a:r>
              <a:rPr dirty="0" sz="2300" spc="3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00" spc="100">
                <a:solidFill>
                  <a:srgbClr val="FFFFFF"/>
                </a:solidFill>
                <a:latin typeface="Arial MT"/>
                <a:cs typeface="Arial MT"/>
              </a:rPr>
              <a:t>fo</a:t>
            </a:r>
            <a:r>
              <a:rPr dirty="0" sz="2300" spc="-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00" spc="160">
                <a:solidFill>
                  <a:srgbClr val="FFFFFF"/>
                </a:solidFill>
                <a:latin typeface="Arial MT"/>
                <a:cs typeface="Arial MT"/>
              </a:rPr>
              <a:t>manage</a:t>
            </a:r>
            <a:r>
              <a:rPr dirty="0" sz="2300" spc="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FFFFFF"/>
                </a:solidFill>
                <a:latin typeface="Arial MT"/>
                <a:cs typeface="Arial MT"/>
              </a:rPr>
              <a:t>lines.</a:t>
            </a:r>
            <a:endParaRPr sz="2300">
              <a:latin typeface="Arial MT"/>
              <a:cs typeface="Arial MT"/>
            </a:endParaRPr>
          </a:p>
          <a:p>
            <a:pPr marL="406400" marR="1118235" indent="-394335">
              <a:lnSpc>
                <a:spcPct val="134600"/>
              </a:lnSpc>
              <a:spcBef>
                <a:spcPts val="1885"/>
              </a:spcBef>
              <a:tabLst>
                <a:tab pos="410845" algn="l"/>
              </a:tabLst>
            </a:pPr>
            <a:r>
              <a:rPr dirty="0" sz="2450" spc="-50">
                <a:solidFill>
                  <a:srgbClr val="1ADAE6"/>
                </a:solidFill>
                <a:latin typeface="Arial MT"/>
                <a:cs typeface="Arial MT"/>
              </a:rPr>
              <a:t>»</a:t>
            </a:r>
            <a:r>
              <a:rPr dirty="0" sz="2450">
                <a:solidFill>
                  <a:srgbClr val="1ADAE6"/>
                </a:solidFill>
                <a:latin typeface="Arial MT"/>
                <a:cs typeface="Arial MT"/>
              </a:rPr>
              <a:t>		</a:t>
            </a:r>
            <a:r>
              <a:rPr dirty="0" sz="2450">
                <a:solidFill>
                  <a:srgbClr val="E9E9E9"/>
                </a:solidFill>
                <a:latin typeface="Arial MT"/>
                <a:cs typeface="Arial MT"/>
              </a:rPr>
              <a:t>Clear</a:t>
            </a:r>
            <a:r>
              <a:rPr dirty="0" sz="2450" spc="40">
                <a:solidFill>
                  <a:srgbClr val="E9E9E9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FFFFFF"/>
                </a:solidFill>
                <a:latin typeface="Arial MT"/>
                <a:cs typeface="Arial MT"/>
              </a:rPr>
              <a:t>performance</a:t>
            </a:r>
            <a:r>
              <a:rPr dirty="0" sz="2450" spc="2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Arial MT"/>
                <a:cs typeface="Arial MT"/>
              </a:rPr>
              <a:t>visibility</a:t>
            </a:r>
            <a:r>
              <a:rPr dirty="0" sz="2450" spc="1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FFFFFF"/>
                </a:solidFill>
                <a:latin typeface="Arial MT"/>
                <a:cs typeface="Arial MT"/>
              </a:rPr>
              <a:t>supports</a:t>
            </a:r>
            <a:r>
              <a:rPr dirty="0" sz="2450" spc="17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 spc="-20">
                <a:solidFill>
                  <a:srgbClr val="EFEFEF"/>
                </a:solidFill>
                <a:latin typeface="Arial MT"/>
                <a:cs typeface="Arial MT"/>
              </a:rPr>
              <a:t>fair </a:t>
            </a:r>
            <a:r>
              <a:rPr dirty="0" sz="2450">
                <a:solidFill>
                  <a:srgbClr val="FFFFFF"/>
                </a:solidFill>
                <a:latin typeface="Arial MT"/>
                <a:cs typeface="Arial MT"/>
              </a:rPr>
              <a:t>recognition</a:t>
            </a:r>
            <a:r>
              <a:rPr dirty="0" sz="2450" spc="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 spc="75">
                <a:solidFill>
                  <a:srgbClr val="EDEDED"/>
                </a:solidFill>
                <a:latin typeface="Arial MT"/>
                <a:cs typeface="Arial MT"/>
              </a:rPr>
              <a:t>and</a:t>
            </a:r>
            <a:r>
              <a:rPr dirty="0" sz="2450" spc="-155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FFFFFF"/>
                </a:solidFill>
                <a:latin typeface="Arial MT"/>
                <a:cs typeface="Arial MT"/>
              </a:rPr>
              <a:t>career</a:t>
            </a:r>
            <a:r>
              <a:rPr dirty="0" sz="2450" spc="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Arial MT"/>
                <a:cs typeface="Arial MT"/>
              </a:rPr>
              <a:t>growth.</a:t>
            </a:r>
            <a:endParaRPr sz="2450">
              <a:latin typeface="Arial MT"/>
              <a:cs typeface="Arial MT"/>
            </a:endParaRPr>
          </a:p>
        </p:txBody>
      </p:sp>
      <p:sp>
        <p:nvSpPr>
          <p:cNvPr id="10" name="object 10" descr=""/>
          <p:cNvSpPr/>
          <p:nvPr/>
        </p:nvSpPr>
        <p:spPr>
          <a:xfrm>
            <a:off x="15706" y="7319148"/>
            <a:ext cx="20080605" cy="337820"/>
          </a:xfrm>
          <a:custGeom>
            <a:avLst/>
            <a:gdLst/>
            <a:ahLst/>
            <a:cxnLst/>
            <a:rect l="l" t="t" r="r" b="b"/>
            <a:pathLst>
              <a:path w="20080605" h="337820">
                <a:moveTo>
                  <a:pt x="20080541" y="337686"/>
                </a:moveTo>
                <a:lnTo>
                  <a:pt x="0" y="33768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37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5706" y="7821751"/>
            <a:ext cx="20080605" cy="337820"/>
          </a:xfrm>
          <a:custGeom>
            <a:avLst/>
            <a:gdLst/>
            <a:ahLst/>
            <a:cxnLst/>
            <a:rect l="l" t="t" r="r" b="b"/>
            <a:pathLst>
              <a:path w="20080605" h="337820">
                <a:moveTo>
                  <a:pt x="20080541" y="337686"/>
                </a:moveTo>
                <a:lnTo>
                  <a:pt x="0" y="33768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3768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/>
          <p:nvPr/>
        </p:nvSpPr>
        <p:spPr>
          <a:xfrm>
            <a:off x="11158952" y="3433530"/>
            <a:ext cx="7043420" cy="47066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350" spc="135">
                <a:solidFill>
                  <a:srgbClr val="E1FF9A"/>
                </a:solidFill>
                <a:latin typeface="Arial MT"/>
                <a:cs typeface="Arial MT"/>
              </a:rPr>
              <a:t>Smarter</a:t>
            </a:r>
            <a:r>
              <a:rPr dirty="0" sz="3350" spc="200">
                <a:solidFill>
                  <a:srgbClr val="E1FF9A"/>
                </a:solidFill>
                <a:latin typeface="Arial MT"/>
                <a:cs typeface="Arial MT"/>
              </a:rPr>
              <a:t> </a:t>
            </a:r>
            <a:r>
              <a:rPr dirty="0" sz="3350" spc="50">
                <a:solidFill>
                  <a:srgbClr val="E6FFA7"/>
                </a:solidFill>
                <a:latin typeface="Arial MT"/>
                <a:cs typeface="Arial MT"/>
              </a:rPr>
              <a:t>Planning</a:t>
            </a:r>
            <a:endParaRPr sz="33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450"/>
              </a:spcBef>
            </a:pPr>
            <a:endParaRPr sz="3350">
              <a:latin typeface="Arial MT"/>
              <a:cs typeface="Arial MT"/>
            </a:endParaRPr>
          </a:p>
          <a:p>
            <a:pPr marL="158115">
              <a:lnSpc>
                <a:spcPct val="100000"/>
              </a:lnSpc>
              <a:tabLst>
                <a:tab pos="548005" algn="l"/>
              </a:tabLst>
            </a:pPr>
            <a:r>
              <a:rPr dirty="0" sz="2550" spc="60">
                <a:solidFill>
                  <a:srgbClr val="16D6FF"/>
                </a:solidFill>
                <a:latin typeface="Arial MT"/>
                <a:cs typeface="Arial MT"/>
              </a:rPr>
              <a:t>»</a:t>
            </a:r>
            <a:r>
              <a:rPr dirty="0" sz="2550">
                <a:solidFill>
                  <a:srgbClr val="16D6FF"/>
                </a:solidFill>
                <a:latin typeface="Arial MT"/>
                <a:cs typeface="Arial MT"/>
              </a:rPr>
              <a:t>	</a:t>
            </a:r>
            <a:r>
              <a:rPr dirty="0" sz="2550" spc="-10">
                <a:solidFill>
                  <a:srgbClr val="F4F4F4"/>
                </a:solidFill>
                <a:latin typeface="Arial MT"/>
                <a:cs typeface="Arial MT"/>
              </a:rPr>
              <a:t>Demand:</a:t>
            </a:r>
            <a:r>
              <a:rPr dirty="0" sz="2550" spc="-20">
                <a:solidFill>
                  <a:srgbClr val="F4F4F4"/>
                </a:solidFill>
                <a:latin typeface="Arial MT"/>
                <a:cs typeface="Arial MT"/>
              </a:rPr>
              <a:t> </a:t>
            </a:r>
            <a:r>
              <a:rPr dirty="0" sz="2550" spc="-155">
                <a:solidFill>
                  <a:srgbClr val="F0F0F0"/>
                </a:solidFill>
                <a:latin typeface="Arial MT"/>
                <a:cs typeface="Arial MT"/>
              </a:rPr>
              <a:t>AI</a:t>
            </a:r>
            <a:r>
              <a:rPr dirty="0" sz="2550" spc="-95">
                <a:solidFill>
                  <a:srgbClr val="F0F0F0"/>
                </a:solidFill>
                <a:latin typeface="Arial MT"/>
                <a:cs typeface="Arial MT"/>
              </a:rPr>
              <a:t> </a:t>
            </a:r>
            <a:r>
              <a:rPr dirty="0" sz="2550" spc="-30">
                <a:solidFill>
                  <a:srgbClr val="EFEFEF"/>
                </a:solidFill>
                <a:latin typeface="Arial MT"/>
                <a:cs typeface="Arial MT"/>
              </a:rPr>
              <a:t>forecasts</a:t>
            </a:r>
            <a:r>
              <a:rPr dirty="0" sz="2550" spc="45">
                <a:solidFill>
                  <a:srgbClr val="EFEFE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FFFFFF"/>
                </a:solidFill>
                <a:latin typeface="Arial MT"/>
                <a:cs typeface="Arial MT"/>
              </a:rPr>
              <a:t>demand</a:t>
            </a:r>
            <a:r>
              <a:rPr dirty="0" sz="2550" spc="-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FEFEF"/>
                </a:solidFill>
                <a:latin typeface="Arial MT"/>
                <a:cs typeface="Arial MT"/>
              </a:rPr>
              <a:t>by</a:t>
            </a:r>
            <a:r>
              <a:rPr dirty="0" sz="2550" spc="-40">
                <a:solidFill>
                  <a:srgbClr val="EFEFEF"/>
                </a:solidFill>
                <a:latin typeface="Arial MT"/>
                <a:cs typeface="Arial MT"/>
              </a:rPr>
              <a:t> </a:t>
            </a:r>
            <a:r>
              <a:rPr dirty="0" sz="2550" spc="-95">
                <a:solidFill>
                  <a:srgbClr val="FFFFFF"/>
                </a:solidFill>
                <a:latin typeface="Arial MT"/>
                <a:cs typeface="Arial MT"/>
              </a:rPr>
              <a:t>season</a:t>
            </a:r>
            <a:r>
              <a:rPr dirty="0" sz="2550" spc="-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550" spc="-25">
                <a:solidFill>
                  <a:srgbClr val="EFEFEF"/>
                </a:solidFill>
                <a:latin typeface="Arial MT"/>
                <a:cs typeface="Arial MT"/>
              </a:rPr>
              <a:t>and</a:t>
            </a:r>
            <a:endParaRPr sz="2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2860"/>
              </a:spcBef>
            </a:pPr>
            <a:endParaRPr sz="2550">
              <a:latin typeface="Arial MT"/>
              <a:cs typeface="Arial MT"/>
            </a:endParaRPr>
          </a:p>
          <a:p>
            <a:pPr marL="554990" marR="5080" indent="-395605">
              <a:lnSpc>
                <a:spcPct val="134600"/>
              </a:lnSpc>
              <a:tabLst>
                <a:tab pos="550545" algn="l"/>
              </a:tabLst>
            </a:pPr>
            <a:r>
              <a:rPr dirty="0" sz="2450" spc="-50">
                <a:solidFill>
                  <a:srgbClr val="0FD8FB"/>
                </a:solidFill>
                <a:latin typeface="Arial MT"/>
                <a:cs typeface="Arial MT"/>
              </a:rPr>
              <a:t>»</a:t>
            </a:r>
            <a:r>
              <a:rPr dirty="0" sz="2450">
                <a:solidFill>
                  <a:srgbClr val="0FD8FB"/>
                </a:solidFill>
                <a:latin typeface="Arial MT"/>
                <a:cs typeface="Arial MT"/>
              </a:rPr>
              <a:t>	</a:t>
            </a:r>
            <a:r>
              <a:rPr dirty="0" sz="2450">
                <a:solidFill>
                  <a:srgbClr val="F2F2F2"/>
                </a:solidFill>
                <a:latin typeface="Arial MT"/>
                <a:cs typeface="Arial MT"/>
              </a:rPr>
              <a:t>Buying:</a:t>
            </a:r>
            <a:r>
              <a:rPr dirty="0" sz="2450" spc="-114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dirty="0" sz="2450" spc="-40">
                <a:solidFill>
                  <a:srgbClr val="FFFFFF"/>
                </a:solidFill>
                <a:latin typeface="Arial MT"/>
                <a:cs typeface="Arial MT"/>
              </a:rPr>
              <a:t>Predicts</a:t>
            </a:r>
            <a:r>
              <a:rPr dirty="0" sz="2450" spc="-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Arial MT"/>
                <a:cs typeface="Arial MT"/>
              </a:rPr>
              <a:t>realistic</a:t>
            </a:r>
            <a:r>
              <a:rPr dirty="0" sz="2450" spc="1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FFFFFF"/>
                </a:solidFill>
                <a:latin typeface="Arial MT"/>
                <a:cs typeface="Arial MT"/>
              </a:rPr>
              <a:t>fabric</a:t>
            </a:r>
            <a:r>
              <a:rPr dirty="0" sz="2450" spc="1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 spc="-35">
                <a:solidFill>
                  <a:srgbClr val="FFFFFF"/>
                </a:solidFill>
                <a:latin typeface="Arial MT"/>
                <a:cs typeface="Arial MT"/>
              </a:rPr>
              <a:t>needs,</a:t>
            </a:r>
            <a:r>
              <a:rPr dirty="0" sz="2450" spc="-4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Arial MT"/>
                <a:cs typeface="Arial MT"/>
              </a:rPr>
              <a:t>reducing </a:t>
            </a:r>
            <a:r>
              <a:rPr dirty="0" sz="2450" spc="75">
                <a:solidFill>
                  <a:srgbClr val="FFFFFF"/>
                </a:solidFill>
                <a:latin typeface="Arial MT"/>
                <a:cs typeface="Arial MT"/>
              </a:rPr>
              <a:t>dead</a:t>
            </a:r>
            <a:r>
              <a:rPr dirty="0" sz="245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FFFFFF"/>
                </a:solidFill>
                <a:latin typeface="Arial MT"/>
                <a:cs typeface="Arial MT"/>
              </a:rPr>
              <a:t>sfock</a:t>
            </a:r>
            <a:endParaRPr sz="2450">
              <a:latin typeface="Arial MT"/>
              <a:cs typeface="Arial MT"/>
            </a:endParaRPr>
          </a:p>
          <a:p>
            <a:pPr marL="553085" marR="173990" indent="-393700">
              <a:lnSpc>
                <a:spcPct val="134600"/>
              </a:lnSpc>
              <a:spcBef>
                <a:spcPts val="1855"/>
              </a:spcBef>
              <a:tabLst>
                <a:tab pos="574040" algn="l"/>
              </a:tabLst>
            </a:pPr>
            <a:r>
              <a:rPr dirty="0" sz="2450" spc="-50">
                <a:solidFill>
                  <a:srgbClr val="08D1E6"/>
                </a:solidFill>
                <a:latin typeface="Arial MT"/>
                <a:cs typeface="Arial MT"/>
              </a:rPr>
              <a:t>»</a:t>
            </a:r>
            <a:r>
              <a:rPr dirty="0" sz="2450">
                <a:solidFill>
                  <a:srgbClr val="08D1E6"/>
                </a:solidFill>
                <a:latin typeface="Arial MT"/>
                <a:cs typeface="Arial MT"/>
              </a:rPr>
              <a:t>		</a:t>
            </a:r>
            <a:r>
              <a:rPr dirty="0" sz="2450">
                <a:solidFill>
                  <a:srgbClr val="FFFFFF"/>
                </a:solidFill>
                <a:latin typeface="Arial MT"/>
                <a:cs typeface="Arial MT"/>
              </a:rPr>
              <a:t>Allocation:</a:t>
            </a:r>
            <a:r>
              <a:rPr dirty="0" sz="2450" spc="27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 spc="-90">
                <a:solidFill>
                  <a:srgbClr val="E6E6E6"/>
                </a:solidFill>
                <a:latin typeface="Arial MT"/>
                <a:cs typeface="Arial MT"/>
              </a:rPr>
              <a:t>AI</a:t>
            </a:r>
            <a:r>
              <a:rPr dirty="0" sz="2450" spc="-105">
                <a:solidFill>
                  <a:srgbClr val="E6E6E6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F0F0F0"/>
                </a:solidFill>
                <a:latin typeface="Arial MT"/>
                <a:cs typeface="Arial MT"/>
              </a:rPr>
              <a:t>predicfs</a:t>
            </a:r>
            <a:r>
              <a:rPr dirty="0" sz="2450" spc="130">
                <a:solidFill>
                  <a:srgbClr val="F0F0F0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FFFFFF"/>
                </a:solidFill>
                <a:latin typeface="Arial MT"/>
                <a:cs typeface="Arial MT"/>
              </a:rPr>
              <a:t>local</a:t>
            </a:r>
            <a:r>
              <a:rPr dirty="0" sz="2450" spc="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FFFFFF"/>
                </a:solidFill>
                <a:latin typeface="Arial MT"/>
                <a:cs typeface="Arial MT"/>
              </a:rPr>
              <a:t>market</a:t>
            </a:r>
            <a:r>
              <a:rPr dirty="0" sz="2450" spc="2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FFFFFF"/>
                </a:solidFill>
                <a:latin typeface="Arial MT"/>
                <a:cs typeface="Arial MT"/>
              </a:rPr>
              <a:t>trends</a:t>
            </a:r>
            <a:r>
              <a:rPr dirty="0" sz="2450" spc="2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 spc="-25">
                <a:solidFill>
                  <a:srgbClr val="FFFFFF"/>
                </a:solidFill>
                <a:latin typeface="Arial MT"/>
                <a:cs typeface="Arial MT"/>
              </a:rPr>
              <a:t>for </a:t>
            </a:r>
            <a:r>
              <a:rPr dirty="0" sz="2450">
                <a:solidFill>
                  <a:srgbClr val="FFFFFF"/>
                </a:solidFill>
                <a:latin typeface="Arial MT"/>
                <a:cs typeface="Arial MT"/>
              </a:rPr>
              <a:t>higher</a:t>
            </a:r>
            <a:r>
              <a:rPr dirty="0" sz="2450" spc="114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 spc="-40">
                <a:solidFill>
                  <a:srgbClr val="FFFFFF"/>
                </a:solidFill>
                <a:latin typeface="Arial MT"/>
                <a:cs typeface="Arial MT"/>
              </a:rPr>
              <a:t>sell-</a:t>
            </a:r>
            <a:r>
              <a:rPr dirty="0" sz="2450" spc="-10">
                <a:solidFill>
                  <a:srgbClr val="FFFFFF"/>
                </a:solidFill>
                <a:latin typeface="Arial MT"/>
                <a:cs typeface="Arial MT"/>
              </a:rPr>
              <a:t>through.</a:t>
            </a:r>
            <a:endParaRPr sz="24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23239" y="2984202"/>
            <a:ext cx="8638480" cy="6738014"/>
          </a:xfrm>
          <a:prstGeom prst="rect">
            <a:avLst/>
          </a:prstGeom>
        </p:spPr>
      </p:pic>
      <p:grpSp>
        <p:nvGrpSpPr>
          <p:cNvPr id="3" name="object 3" descr=""/>
          <p:cNvGrpSpPr/>
          <p:nvPr/>
        </p:nvGrpSpPr>
        <p:grpSpPr>
          <a:xfrm>
            <a:off x="18564879" y="10743128"/>
            <a:ext cx="1099820" cy="55244"/>
            <a:chOff x="18564879" y="10743128"/>
            <a:chExt cx="1099820" cy="55244"/>
          </a:xfrm>
        </p:grpSpPr>
        <p:sp>
          <p:nvSpPr>
            <p:cNvPr id="4" name="object 4" descr=""/>
            <p:cNvSpPr/>
            <p:nvPr/>
          </p:nvSpPr>
          <p:spPr>
            <a:xfrm>
              <a:off x="18564879" y="10786321"/>
              <a:ext cx="1099820" cy="0"/>
            </a:xfrm>
            <a:custGeom>
              <a:avLst/>
              <a:gdLst/>
              <a:ahLst/>
              <a:cxnLst/>
              <a:rect l="l" t="t" r="r" b="b"/>
              <a:pathLst>
                <a:path w="1099819" h="0">
                  <a:moveTo>
                    <a:pt x="0" y="0"/>
                  </a:moveTo>
                  <a:lnTo>
                    <a:pt x="1099443" y="0"/>
                  </a:lnTo>
                </a:path>
              </a:pathLst>
            </a:custGeom>
            <a:ln w="23559">
              <a:solidFill>
                <a:srgbClr val="0008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5" name="object 5" descr=""/>
            <p:cNvSpPr/>
            <p:nvPr/>
          </p:nvSpPr>
          <p:spPr>
            <a:xfrm>
              <a:off x="18690529" y="10754908"/>
              <a:ext cx="974090" cy="0"/>
            </a:xfrm>
            <a:custGeom>
              <a:avLst/>
              <a:gdLst/>
              <a:ahLst/>
              <a:cxnLst/>
              <a:rect l="l" t="t" r="r" b="b"/>
              <a:pathLst>
                <a:path w="974090" h="0">
                  <a:moveTo>
                    <a:pt x="0" y="0"/>
                  </a:moveTo>
                  <a:lnTo>
                    <a:pt x="973792" y="0"/>
                  </a:lnTo>
                </a:path>
              </a:pathLst>
            </a:custGeom>
            <a:ln w="23559">
              <a:solidFill>
                <a:srgbClr val="000800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/>
          <p:nvPr/>
        </p:nvSpPr>
        <p:spPr>
          <a:xfrm>
            <a:off x="18254679" y="3416126"/>
            <a:ext cx="0" cy="5214620"/>
          </a:xfrm>
          <a:custGeom>
            <a:avLst/>
            <a:gdLst/>
            <a:ahLst/>
            <a:cxnLst/>
            <a:rect l="l" t="t" r="r" b="b"/>
            <a:pathLst>
              <a:path w="0" h="5214620">
                <a:moveTo>
                  <a:pt x="0" y="5214501"/>
                </a:moveTo>
                <a:lnTo>
                  <a:pt x="0" y="0"/>
                </a:lnTo>
              </a:path>
            </a:pathLst>
          </a:custGeom>
          <a:ln w="7853">
            <a:solidFill>
              <a:srgbClr val="188CB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492101" y="2984202"/>
            <a:ext cx="7987030" cy="6714490"/>
          </a:xfrm>
          <a:custGeom>
            <a:avLst/>
            <a:gdLst/>
            <a:ahLst/>
            <a:cxnLst/>
            <a:rect l="l" t="t" r="r" b="b"/>
            <a:pathLst>
              <a:path w="7987030" h="6714490">
                <a:moveTo>
                  <a:pt x="7986668" y="6714455"/>
                </a:moveTo>
                <a:lnTo>
                  <a:pt x="0" y="6714455"/>
                </a:lnTo>
                <a:lnTo>
                  <a:pt x="0" y="0"/>
                </a:lnTo>
                <a:lnTo>
                  <a:pt x="7986668" y="0"/>
                </a:lnTo>
                <a:lnTo>
                  <a:pt x="7986668" y="67144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1476118" y="2967370"/>
            <a:ext cx="8025130" cy="5710555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16510">
              <a:lnSpc>
                <a:spcPct val="100000"/>
              </a:lnSpc>
              <a:spcBef>
                <a:spcPts val="1110"/>
              </a:spcBef>
            </a:pPr>
            <a:r>
              <a:rPr dirty="0" sz="2300" spc="105">
                <a:solidFill>
                  <a:srgbClr val="EFEFEF"/>
                </a:solidFill>
                <a:latin typeface="Arial MT"/>
                <a:cs typeface="Arial MT"/>
              </a:rPr>
              <a:t>Digifol</a:t>
            </a:r>
            <a:r>
              <a:rPr dirty="0" sz="2300" spc="30">
                <a:solidFill>
                  <a:srgbClr val="EFEFEF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EDEDED"/>
                </a:solidFill>
                <a:latin typeface="Arial MT"/>
                <a:cs typeface="Arial MT"/>
              </a:rPr>
              <a:t>Base</a:t>
            </a:r>
            <a:r>
              <a:rPr dirty="0" sz="2300" spc="40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dirty="0" sz="2300">
                <a:solidFill>
                  <a:srgbClr val="EFEFEF"/>
                </a:solidFill>
                <a:latin typeface="Arial MT"/>
                <a:cs typeface="Arial MT"/>
              </a:rPr>
              <a:t>is</a:t>
            </a:r>
            <a:r>
              <a:rPr dirty="0" sz="2300" spc="15">
                <a:solidFill>
                  <a:srgbClr val="EFEFEF"/>
                </a:solidFill>
                <a:latin typeface="Arial MT"/>
                <a:cs typeface="Arial MT"/>
              </a:rPr>
              <a:t> </a:t>
            </a:r>
            <a:r>
              <a:rPr dirty="0" sz="2300" spc="-10">
                <a:solidFill>
                  <a:srgbClr val="F7F7F7"/>
                </a:solidFill>
                <a:latin typeface="Arial MT"/>
                <a:cs typeface="Arial MT"/>
              </a:rPr>
              <a:t>Ready:</a:t>
            </a:r>
            <a:endParaRPr sz="2300">
              <a:latin typeface="Arial MT"/>
              <a:cs typeface="Arial MT"/>
            </a:endParaRPr>
          </a:p>
          <a:p>
            <a:pPr marL="19685">
              <a:lnSpc>
                <a:spcPct val="100000"/>
              </a:lnSpc>
              <a:spcBef>
                <a:spcPts val="1045"/>
              </a:spcBef>
            </a:pPr>
            <a:r>
              <a:rPr dirty="0" sz="2450" spc="-229">
                <a:solidFill>
                  <a:srgbClr val="EFEFEF"/>
                </a:solidFill>
                <a:latin typeface="Arial MT"/>
                <a:cs typeface="Arial MT"/>
              </a:rPr>
              <a:t>We</a:t>
            </a:r>
            <a:r>
              <a:rPr dirty="0" sz="2450">
                <a:solidFill>
                  <a:srgbClr val="EFEFEF"/>
                </a:solidFill>
                <a:latin typeface="Arial MT"/>
                <a:cs typeface="Arial MT"/>
              </a:rPr>
              <a:t> have</a:t>
            </a:r>
            <a:r>
              <a:rPr dirty="0" sz="2450" spc="-125">
                <a:solidFill>
                  <a:srgbClr val="EFEFE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EBEBEB"/>
                </a:solidFill>
                <a:latin typeface="Arial MT"/>
                <a:cs typeface="Arial MT"/>
              </a:rPr>
              <a:t>the</a:t>
            </a:r>
            <a:r>
              <a:rPr dirty="0" sz="2450" spc="-85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dirty="0" sz="2450" spc="-425">
                <a:solidFill>
                  <a:srgbClr val="FFFFFF"/>
                </a:solidFill>
                <a:latin typeface="Arial MT"/>
                <a:cs typeface="Arial MT"/>
              </a:rPr>
              <a:t>ERP</a:t>
            </a:r>
            <a:r>
              <a:rPr dirty="0" sz="2450" spc="1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FFFFFF"/>
                </a:solidFill>
                <a:latin typeface="Arial MT"/>
                <a:cs typeface="Arial MT"/>
              </a:rPr>
              <a:t>&amp;</a:t>
            </a:r>
            <a:r>
              <a:rPr dirty="0" sz="24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450" spc="-50">
                <a:solidFill>
                  <a:srgbClr val="F7F7F7"/>
                </a:solidFill>
                <a:latin typeface="Arial MT"/>
                <a:cs typeface="Arial MT"/>
              </a:rPr>
              <a:t>IoT</a:t>
            </a:r>
            <a:r>
              <a:rPr dirty="0" sz="2450" spc="125">
                <a:solidFill>
                  <a:srgbClr val="F7F7F7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F0F0F0"/>
                </a:solidFill>
                <a:latin typeface="Arial MT"/>
                <a:cs typeface="Arial MT"/>
              </a:rPr>
              <a:t>infrastructure; </a:t>
            </a:r>
            <a:r>
              <a:rPr dirty="0" sz="2450">
                <a:solidFill>
                  <a:srgbClr val="EFEFEF"/>
                </a:solidFill>
                <a:latin typeface="Arial MT"/>
                <a:cs typeface="Arial MT"/>
              </a:rPr>
              <a:t>we</a:t>
            </a:r>
            <a:r>
              <a:rPr dirty="0" sz="2450" spc="-100">
                <a:solidFill>
                  <a:srgbClr val="EFEFE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F4F4F4"/>
                </a:solidFill>
                <a:latin typeface="Arial MT"/>
                <a:cs typeface="Arial MT"/>
              </a:rPr>
              <a:t>only</a:t>
            </a:r>
            <a:r>
              <a:rPr dirty="0" sz="2450" spc="15">
                <a:solidFill>
                  <a:srgbClr val="F4F4F4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EDEDED"/>
                </a:solidFill>
                <a:latin typeface="Arial MT"/>
                <a:cs typeface="Arial MT"/>
              </a:rPr>
              <a:t>need </a:t>
            </a:r>
            <a:r>
              <a:rPr dirty="0" sz="2450">
                <a:solidFill>
                  <a:srgbClr val="EBEBEB"/>
                </a:solidFill>
                <a:latin typeface="Arial MT"/>
                <a:cs typeface="Arial MT"/>
              </a:rPr>
              <a:t>to</a:t>
            </a:r>
            <a:r>
              <a:rPr dirty="0" sz="2450" spc="-140">
                <a:solidFill>
                  <a:srgbClr val="EBEBEB"/>
                </a:solidFill>
                <a:latin typeface="Arial MT"/>
                <a:cs typeface="Arial MT"/>
              </a:rPr>
              <a:t> </a:t>
            </a:r>
            <a:r>
              <a:rPr dirty="0" sz="2450" spc="90">
                <a:solidFill>
                  <a:srgbClr val="EDEDED"/>
                </a:solidFill>
                <a:latin typeface="Arial MT"/>
                <a:cs typeface="Arial MT"/>
              </a:rPr>
              <a:t>add</a:t>
            </a:r>
            <a:endParaRPr sz="2450">
              <a:latin typeface="Arial MT"/>
              <a:cs typeface="Arial MT"/>
            </a:endParaRPr>
          </a:p>
          <a:p>
            <a:pPr marL="31750">
              <a:lnSpc>
                <a:spcPct val="100000"/>
              </a:lnSpc>
              <a:spcBef>
                <a:spcPts val="1170"/>
              </a:spcBef>
            </a:pPr>
            <a:r>
              <a:rPr dirty="0" sz="2300" spc="-25">
                <a:solidFill>
                  <a:srgbClr val="EDEDED"/>
                </a:solidFill>
                <a:latin typeface="Arial MT"/>
                <a:cs typeface="Arial MT"/>
              </a:rPr>
              <a:t>AI.</a:t>
            </a:r>
            <a:endParaRPr sz="23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390"/>
              </a:spcBef>
            </a:pPr>
            <a:endParaRPr sz="2300">
              <a:latin typeface="Arial MT"/>
              <a:cs typeface="Arial MT"/>
            </a:endParaRPr>
          </a:p>
          <a:p>
            <a:pPr marL="15240">
              <a:lnSpc>
                <a:spcPct val="100000"/>
              </a:lnSpc>
              <a:spcBef>
                <a:spcPts val="5"/>
              </a:spcBef>
            </a:pPr>
            <a:r>
              <a:rPr dirty="0" sz="2550">
                <a:solidFill>
                  <a:srgbClr val="FFFFFF"/>
                </a:solidFill>
                <a:latin typeface="Arial MT"/>
                <a:cs typeface="Arial MT"/>
              </a:rPr>
              <a:t>Morkef</a:t>
            </a:r>
            <a:r>
              <a:rPr dirty="0" sz="2550" spc="2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F4F4F4"/>
                </a:solidFill>
                <a:latin typeface="Arial MT"/>
                <a:cs typeface="Arial MT"/>
              </a:rPr>
              <a:t>Shiff:</a:t>
            </a:r>
            <a:endParaRPr sz="2550">
              <a:latin typeface="Arial MT"/>
              <a:cs typeface="Arial MT"/>
            </a:endParaRPr>
          </a:p>
          <a:p>
            <a:pPr marL="15240">
              <a:lnSpc>
                <a:spcPct val="100000"/>
              </a:lnSpc>
              <a:spcBef>
                <a:spcPts val="894"/>
              </a:spcBef>
            </a:pPr>
            <a:r>
              <a:rPr dirty="0" sz="2550" spc="-45">
                <a:solidFill>
                  <a:srgbClr val="F6F6F6"/>
                </a:solidFill>
                <a:latin typeface="Arial MT"/>
                <a:cs typeface="Arial MT"/>
              </a:rPr>
              <a:t>Leading</a:t>
            </a:r>
            <a:r>
              <a:rPr dirty="0" sz="2550" spc="-135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dirty="0" sz="2550" spc="-210">
                <a:solidFill>
                  <a:srgbClr val="FFFFFF"/>
                </a:solidFill>
                <a:latin typeface="Arial MT"/>
                <a:cs typeface="Arial MT"/>
              </a:rPr>
              <a:t>RMG</a:t>
            </a:r>
            <a:r>
              <a:rPr dirty="0" sz="2550">
                <a:solidFill>
                  <a:srgbClr val="FFFFFF"/>
                </a:solidFill>
                <a:latin typeface="Arial MT"/>
                <a:cs typeface="Arial MT"/>
              </a:rPr>
              <a:t> factories</a:t>
            </a:r>
            <a:r>
              <a:rPr dirty="0" sz="2550" spc="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550" spc="-20">
                <a:solidFill>
                  <a:srgbClr val="EDEDED"/>
                </a:solidFill>
                <a:latin typeface="Arial MT"/>
                <a:cs typeface="Arial MT"/>
              </a:rPr>
              <a:t>are</a:t>
            </a:r>
            <a:r>
              <a:rPr dirty="0" sz="2550" spc="-160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F2F2F2"/>
                </a:solidFill>
                <a:latin typeface="Arial MT"/>
                <a:cs typeface="Arial MT"/>
              </a:rPr>
              <a:t>already</a:t>
            </a:r>
            <a:r>
              <a:rPr dirty="0" sz="2550" spc="5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FFFFFF"/>
                </a:solidFill>
                <a:latin typeface="Arial MT"/>
                <a:cs typeface="Arial MT"/>
              </a:rPr>
              <a:t>adopting</a:t>
            </a:r>
            <a:r>
              <a:rPr dirty="0" sz="2550" spc="-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F9F9F9"/>
                </a:solidFill>
                <a:latin typeface="Arial MT"/>
                <a:cs typeface="Arial MT"/>
              </a:rPr>
              <a:t>analytics</a:t>
            </a:r>
            <a:endParaRPr sz="2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2550">
              <a:latin typeface="Arial MT"/>
              <a:cs typeface="Arial MT"/>
            </a:endParaRPr>
          </a:p>
          <a:p>
            <a:pPr marL="15240">
              <a:lnSpc>
                <a:spcPct val="100000"/>
              </a:lnSpc>
            </a:pPr>
            <a:r>
              <a:rPr dirty="0" sz="2550" spc="-80">
                <a:solidFill>
                  <a:srgbClr val="F6F6F6"/>
                </a:solidFill>
                <a:latin typeface="Arial MT"/>
                <a:cs typeface="Arial MT"/>
              </a:rPr>
              <a:t>Low</a:t>
            </a:r>
            <a:r>
              <a:rPr dirty="0" sz="2550" spc="-70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dirty="0" sz="2550" spc="-114">
                <a:solidFill>
                  <a:srgbClr val="FFFFFF"/>
                </a:solidFill>
                <a:latin typeface="Arial MT"/>
                <a:cs typeface="Arial MT"/>
              </a:rPr>
              <a:t>Risk.</a:t>
            </a:r>
            <a:r>
              <a:rPr dirty="0" sz="2550" spc="-6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550" spc="-40">
                <a:solidFill>
                  <a:srgbClr val="F2F2F2"/>
                </a:solidFill>
                <a:latin typeface="Arial MT"/>
                <a:cs typeface="Arial MT"/>
              </a:rPr>
              <a:t>High</a:t>
            </a:r>
            <a:r>
              <a:rPr dirty="0" sz="2550" spc="-140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FFFFFF"/>
                </a:solidFill>
                <a:latin typeface="Arial MT"/>
                <a:cs typeface="Arial MT"/>
              </a:rPr>
              <a:t>Refurn:</a:t>
            </a:r>
            <a:endParaRPr sz="2550">
              <a:latin typeface="Arial MT"/>
              <a:cs typeface="Arial MT"/>
            </a:endParaRPr>
          </a:p>
          <a:p>
            <a:pPr marL="16510">
              <a:lnSpc>
                <a:spcPct val="100000"/>
              </a:lnSpc>
              <a:spcBef>
                <a:spcPts val="900"/>
              </a:spcBef>
            </a:pPr>
            <a:r>
              <a:rPr dirty="0" sz="2550">
                <a:solidFill>
                  <a:srgbClr val="F2F2F2"/>
                </a:solidFill>
                <a:latin typeface="Arial MT"/>
                <a:cs typeface="Arial MT"/>
              </a:rPr>
              <a:t>Start</a:t>
            </a:r>
            <a:r>
              <a:rPr dirty="0" sz="2550" spc="55">
                <a:solidFill>
                  <a:srgbClr val="F2F2F2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FFFFFF"/>
                </a:solidFill>
                <a:latin typeface="Arial MT"/>
                <a:cs typeface="Arial MT"/>
              </a:rPr>
              <a:t>with</a:t>
            </a:r>
            <a:r>
              <a:rPr dirty="0" sz="2550" spc="-18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550" spc="-35">
                <a:solidFill>
                  <a:srgbClr val="FFFFFF"/>
                </a:solidFill>
                <a:latin typeface="Arial MT"/>
                <a:cs typeface="Arial MT"/>
              </a:rPr>
              <a:t>one</a:t>
            </a:r>
            <a:r>
              <a:rPr dirty="0" sz="2550" spc="-13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550" spc="-25">
                <a:solidFill>
                  <a:srgbClr val="EFEFEF"/>
                </a:solidFill>
                <a:latin typeface="Arial MT"/>
                <a:cs typeface="Arial MT"/>
              </a:rPr>
              <a:t>pilot,</a:t>
            </a:r>
            <a:r>
              <a:rPr dirty="0" sz="2550" spc="-105">
                <a:solidFill>
                  <a:srgbClr val="EFEFEF"/>
                </a:solidFill>
                <a:latin typeface="Arial MT"/>
                <a:cs typeface="Arial MT"/>
              </a:rPr>
              <a:t> </a:t>
            </a:r>
            <a:r>
              <a:rPr dirty="0" sz="2550" spc="-70">
                <a:solidFill>
                  <a:srgbClr val="FFFFFF"/>
                </a:solidFill>
                <a:latin typeface="Arial MT"/>
                <a:cs typeface="Arial MT"/>
              </a:rPr>
              <a:t>scale</a:t>
            </a:r>
            <a:r>
              <a:rPr dirty="0" sz="2550" spc="-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F4F4F4"/>
                </a:solidFill>
                <a:latin typeface="Arial MT"/>
                <a:cs typeface="Arial MT"/>
              </a:rPr>
              <a:t>only</a:t>
            </a:r>
            <a:r>
              <a:rPr dirty="0" sz="2550">
                <a:solidFill>
                  <a:srgbClr val="F4F4F4"/>
                </a:solidFill>
                <a:latin typeface="Arial MT"/>
                <a:cs typeface="Arial MT"/>
              </a:rPr>
              <a:t> </a:t>
            </a:r>
            <a:r>
              <a:rPr dirty="0" sz="2550" spc="-25">
                <a:solidFill>
                  <a:srgbClr val="F0F0F0"/>
                </a:solidFill>
                <a:latin typeface="Arial MT"/>
                <a:cs typeface="Arial MT"/>
              </a:rPr>
              <a:t>when</a:t>
            </a:r>
            <a:r>
              <a:rPr dirty="0" sz="2550" spc="-110">
                <a:solidFill>
                  <a:srgbClr val="F0F0F0"/>
                </a:solidFill>
                <a:latin typeface="Arial MT"/>
                <a:cs typeface="Arial MT"/>
              </a:rPr>
              <a:t> </a:t>
            </a:r>
            <a:r>
              <a:rPr dirty="0" sz="2550" spc="-95">
                <a:solidFill>
                  <a:srgbClr val="FFFFFF"/>
                </a:solidFill>
                <a:latin typeface="Arial MT"/>
                <a:cs typeface="Arial MT"/>
              </a:rPr>
              <a:t>results</a:t>
            </a:r>
            <a:r>
              <a:rPr dirty="0" sz="2550" spc="-4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FFFFFF"/>
                </a:solidFill>
                <a:latin typeface="Arial MT"/>
                <a:cs typeface="Arial MT"/>
              </a:rPr>
              <a:t>are</a:t>
            </a:r>
            <a:r>
              <a:rPr dirty="0" sz="2550" spc="-1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F7F7F7"/>
                </a:solidFill>
                <a:latin typeface="Arial MT"/>
                <a:cs typeface="Arial MT"/>
              </a:rPr>
              <a:t>proven.</a:t>
            </a:r>
            <a:endParaRPr sz="255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1055"/>
              </a:spcBef>
            </a:pPr>
            <a:endParaRPr sz="25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dirty="0" sz="2550" spc="-35">
                <a:solidFill>
                  <a:srgbClr val="FFFFFF"/>
                </a:solidFill>
                <a:latin typeface="Arial MT"/>
                <a:cs typeface="Arial MT"/>
              </a:rPr>
              <a:t>Fufure-</a:t>
            </a:r>
            <a:r>
              <a:rPr dirty="0" sz="2550" spc="-10">
                <a:solidFill>
                  <a:srgbClr val="FFFFFF"/>
                </a:solidFill>
                <a:latin typeface="Arial MT"/>
                <a:cs typeface="Arial MT"/>
              </a:rPr>
              <a:t>Proofing:</a:t>
            </a:r>
            <a:endParaRPr sz="2550">
              <a:latin typeface="Arial MT"/>
              <a:cs typeface="Arial MT"/>
            </a:endParaRPr>
          </a:p>
          <a:p>
            <a:pPr marL="16510">
              <a:lnSpc>
                <a:spcPct val="100000"/>
              </a:lnSpc>
              <a:spcBef>
                <a:spcPts val="900"/>
              </a:spcBef>
            </a:pPr>
            <a:r>
              <a:rPr dirty="0" sz="2550" spc="-120">
                <a:solidFill>
                  <a:srgbClr val="FFFFFF"/>
                </a:solidFill>
                <a:latin typeface="Arial MT"/>
                <a:cs typeface="Arial MT"/>
              </a:rPr>
              <a:t>Secures</a:t>
            </a:r>
            <a:r>
              <a:rPr dirty="0" sz="2550" spc="-6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550" spc="-85">
                <a:solidFill>
                  <a:srgbClr val="FFFFFF"/>
                </a:solidFill>
                <a:latin typeface="Arial MT"/>
                <a:cs typeface="Arial MT"/>
              </a:rPr>
              <a:t>our</a:t>
            </a:r>
            <a:r>
              <a:rPr dirty="0" sz="2550" spc="-9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FFFFFF"/>
                </a:solidFill>
                <a:latin typeface="Arial MT"/>
                <a:cs typeface="Arial MT"/>
              </a:rPr>
              <a:t>market</a:t>
            </a:r>
            <a:r>
              <a:rPr dirty="0" sz="2550" spc="5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550" spc="-30">
                <a:solidFill>
                  <a:srgbClr val="F6F6F6"/>
                </a:solidFill>
                <a:latin typeface="Arial MT"/>
                <a:cs typeface="Arial MT"/>
              </a:rPr>
              <a:t>position</a:t>
            </a:r>
            <a:r>
              <a:rPr dirty="0" sz="2550" spc="-15">
                <a:solidFill>
                  <a:srgbClr val="F6F6F6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F0F0F0"/>
                </a:solidFill>
                <a:latin typeface="Arial MT"/>
                <a:cs typeface="Arial MT"/>
              </a:rPr>
              <a:t>for</a:t>
            </a:r>
            <a:r>
              <a:rPr dirty="0" sz="2550" spc="25">
                <a:solidFill>
                  <a:srgbClr val="F0F0F0"/>
                </a:solidFill>
                <a:latin typeface="Arial MT"/>
                <a:cs typeface="Arial MT"/>
              </a:rPr>
              <a:t> </a:t>
            </a:r>
            <a:r>
              <a:rPr dirty="0" sz="2550">
                <a:solidFill>
                  <a:srgbClr val="EDEDED"/>
                </a:solidFill>
                <a:latin typeface="Arial MT"/>
                <a:cs typeface="Arial MT"/>
              </a:rPr>
              <a:t>the</a:t>
            </a:r>
            <a:r>
              <a:rPr dirty="0" sz="2550" spc="-145">
                <a:solidFill>
                  <a:srgbClr val="EDEDED"/>
                </a:solidFill>
                <a:latin typeface="Arial MT"/>
                <a:cs typeface="Arial MT"/>
              </a:rPr>
              <a:t> </a:t>
            </a:r>
            <a:r>
              <a:rPr dirty="0" sz="2550" spc="-40">
                <a:solidFill>
                  <a:srgbClr val="FFFFFF"/>
                </a:solidFill>
                <a:latin typeface="Arial MT"/>
                <a:cs typeface="Arial MT"/>
              </a:rPr>
              <a:t>next</a:t>
            </a:r>
            <a:r>
              <a:rPr dirty="0" sz="2550" spc="-12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550" spc="-635">
                <a:solidFill>
                  <a:srgbClr val="FFFFFF"/>
                </a:solidFill>
                <a:latin typeface="Arial MT"/>
                <a:cs typeface="Arial MT"/>
              </a:rPr>
              <a:t>10—</a:t>
            </a:r>
            <a:r>
              <a:rPr dirty="0" sz="2550" spc="-500">
                <a:solidFill>
                  <a:srgbClr val="FFFFFF"/>
                </a:solidFill>
                <a:latin typeface="Arial MT"/>
                <a:cs typeface="Arial MT"/>
              </a:rPr>
              <a:t>15</a:t>
            </a:r>
            <a:r>
              <a:rPr dirty="0" sz="2550" spc="3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2550" spc="-10">
                <a:solidFill>
                  <a:srgbClr val="FFFFFF"/>
                </a:solidFill>
                <a:latin typeface="Arial MT"/>
                <a:cs typeface="Arial MT"/>
              </a:rPr>
              <a:t>years</a:t>
            </a:r>
            <a:endParaRPr sz="2550">
              <a:latin typeface="Arial MT"/>
              <a:cs typeface="Arial MT"/>
            </a:endParaRPr>
          </a:p>
        </p:txBody>
      </p:sp>
      <p:pic>
        <p:nvPicPr>
          <p:cNvPr id="9" name="object 9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706" y="942379"/>
            <a:ext cx="20088393" cy="185334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706" y="1083736"/>
            <a:ext cx="20080605" cy="777875"/>
          </a:xfrm>
          <a:custGeom>
            <a:avLst/>
            <a:gdLst/>
            <a:ahLst/>
            <a:cxnLst/>
            <a:rect l="l" t="t" r="r" b="b"/>
            <a:pathLst>
              <a:path w="20080605" h="777875">
                <a:moveTo>
                  <a:pt x="20080541" y="777463"/>
                </a:moveTo>
                <a:lnTo>
                  <a:pt x="0" y="777463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777463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10" rIns="0" bIns="0" rtlCol="0" vert="horz">
            <a:spAutoFit/>
          </a:bodyPr>
          <a:lstStyle/>
          <a:p>
            <a:pPr marL="6957695">
              <a:lnSpc>
                <a:spcPct val="100000"/>
              </a:lnSpc>
              <a:spcBef>
                <a:spcPts val="130"/>
              </a:spcBef>
            </a:pPr>
            <a:r>
              <a:rPr dirty="0" sz="6150" spc="-210">
                <a:solidFill>
                  <a:srgbClr val="DDF993"/>
                </a:solidFill>
              </a:rPr>
              <a:t>The </a:t>
            </a:r>
            <a:r>
              <a:rPr dirty="0" sz="6150" spc="-225">
                <a:solidFill>
                  <a:srgbClr val="DFFF9E"/>
                </a:solidFill>
              </a:rPr>
              <a:t>Proposal</a:t>
            </a:r>
            <a:endParaRPr sz="6150"/>
          </a:p>
        </p:txBody>
      </p:sp>
      <p:sp>
        <p:nvSpPr>
          <p:cNvPr id="4" name="object 4" descr=""/>
          <p:cNvSpPr/>
          <p:nvPr/>
        </p:nvSpPr>
        <p:spPr>
          <a:xfrm>
            <a:off x="15706" y="4617660"/>
            <a:ext cx="20080605" cy="699135"/>
          </a:xfrm>
          <a:custGeom>
            <a:avLst/>
            <a:gdLst/>
            <a:ahLst/>
            <a:cxnLst/>
            <a:rect l="l" t="t" r="r" b="b"/>
            <a:pathLst>
              <a:path w="20080605" h="699135">
                <a:moveTo>
                  <a:pt x="20080541" y="698931"/>
                </a:moveTo>
                <a:lnTo>
                  <a:pt x="0" y="69893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6989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5706" y="5544333"/>
            <a:ext cx="20080605" cy="699135"/>
          </a:xfrm>
          <a:custGeom>
            <a:avLst/>
            <a:gdLst/>
            <a:ahLst/>
            <a:cxnLst/>
            <a:rect l="l" t="t" r="r" b="b"/>
            <a:pathLst>
              <a:path w="20080605" h="699135">
                <a:moveTo>
                  <a:pt x="20080541" y="698931"/>
                </a:moveTo>
                <a:lnTo>
                  <a:pt x="0" y="698931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698931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5706" y="6471007"/>
            <a:ext cx="20080605" cy="542290"/>
          </a:xfrm>
          <a:custGeom>
            <a:avLst/>
            <a:gdLst/>
            <a:ahLst/>
            <a:cxnLst/>
            <a:rect l="l" t="t" r="r" b="b"/>
            <a:pathLst>
              <a:path w="20080605" h="542290">
                <a:moveTo>
                  <a:pt x="20080541" y="541868"/>
                </a:moveTo>
                <a:lnTo>
                  <a:pt x="0" y="541868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54186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1750" rIns="0" bIns="0" rtlCol="0" vert="horz">
            <a:spAutoFit/>
          </a:bodyPr>
          <a:lstStyle/>
          <a:p>
            <a:pPr algn="ctr" marL="12700" marR="5080">
              <a:lnSpc>
                <a:spcPct val="106800"/>
              </a:lnSpc>
              <a:spcBef>
                <a:spcPts val="250"/>
              </a:spcBef>
            </a:pPr>
            <a:r>
              <a:rPr dirty="0" spc="-35"/>
              <a:t>Start</a:t>
            </a:r>
            <a:r>
              <a:rPr dirty="0" spc="-340"/>
              <a:t> </a:t>
            </a:r>
            <a:r>
              <a:rPr dirty="0"/>
              <a:t>a</a:t>
            </a:r>
            <a:r>
              <a:rPr dirty="0" spc="-375"/>
              <a:t> </a:t>
            </a:r>
            <a:r>
              <a:rPr dirty="0" spc="-1185"/>
              <a:t>3—</a:t>
            </a:r>
            <a:r>
              <a:rPr dirty="0" spc="-840"/>
              <a:t>ó</a:t>
            </a:r>
            <a:r>
              <a:rPr dirty="0" spc="-90"/>
              <a:t> </a:t>
            </a:r>
            <a:r>
              <a:rPr dirty="0"/>
              <a:t>month</a:t>
            </a:r>
            <a:r>
              <a:rPr dirty="0" spc="55"/>
              <a:t> </a:t>
            </a:r>
            <a:r>
              <a:rPr dirty="0" spc="-465"/>
              <a:t>AI</a:t>
            </a:r>
            <a:r>
              <a:rPr dirty="0" spc="-180"/>
              <a:t> </a:t>
            </a:r>
            <a:r>
              <a:rPr dirty="0" spc="-135"/>
              <a:t>pilot</a:t>
            </a:r>
            <a:r>
              <a:rPr dirty="0" spc="-195"/>
              <a:t> </a:t>
            </a:r>
            <a:r>
              <a:rPr dirty="0" spc="-315"/>
              <a:t>using</a:t>
            </a:r>
            <a:r>
              <a:rPr dirty="0" spc="-100"/>
              <a:t> </a:t>
            </a:r>
            <a:r>
              <a:rPr dirty="0" spc="-260"/>
              <a:t>our</a:t>
            </a:r>
            <a:r>
              <a:rPr dirty="0" spc="-10"/>
              <a:t> </a:t>
            </a:r>
            <a:r>
              <a:rPr dirty="0" spc="-260"/>
              <a:t>existing</a:t>
            </a:r>
            <a:r>
              <a:rPr dirty="0" spc="10"/>
              <a:t> </a:t>
            </a:r>
            <a:r>
              <a:rPr dirty="0"/>
              <a:t>data</a:t>
            </a:r>
            <a:r>
              <a:rPr dirty="0" spc="-170"/>
              <a:t> </a:t>
            </a:r>
            <a:r>
              <a:rPr dirty="0" spc="-25"/>
              <a:t>to </a:t>
            </a:r>
            <a:r>
              <a:rPr dirty="0" sz="5650" spc="-295"/>
              <a:t>improve</a:t>
            </a:r>
            <a:r>
              <a:rPr dirty="0" sz="5650" spc="5"/>
              <a:t> </a:t>
            </a:r>
            <a:r>
              <a:rPr dirty="0" sz="5650" spc="-285"/>
              <a:t>efficiency</a:t>
            </a:r>
            <a:r>
              <a:rPr dirty="0" sz="5650" spc="415"/>
              <a:t> </a:t>
            </a:r>
            <a:r>
              <a:rPr dirty="0" sz="5650" spc="-254"/>
              <a:t>and</a:t>
            </a:r>
            <a:r>
              <a:rPr dirty="0" sz="5650" spc="-240"/>
              <a:t> </a:t>
            </a:r>
            <a:r>
              <a:rPr dirty="0" sz="5650" spc="-340"/>
              <a:t>quality,</a:t>
            </a:r>
            <a:r>
              <a:rPr dirty="0" sz="5650" spc="120"/>
              <a:t> </a:t>
            </a:r>
            <a:r>
              <a:rPr dirty="0" sz="5650" spc="-280"/>
              <a:t>then</a:t>
            </a:r>
            <a:r>
              <a:rPr dirty="0" sz="5650" spc="-310"/>
              <a:t> </a:t>
            </a:r>
            <a:r>
              <a:rPr dirty="0" sz="5650" spc="-415"/>
              <a:t>scale </a:t>
            </a:r>
            <a:r>
              <a:rPr dirty="0" sz="5900" spc="-560"/>
              <a:t>successful</a:t>
            </a:r>
            <a:r>
              <a:rPr dirty="0" sz="5900" spc="55"/>
              <a:t> </a:t>
            </a:r>
            <a:r>
              <a:rPr dirty="0" sz="5900" spc="-520"/>
              <a:t>models.</a:t>
            </a:r>
            <a:endParaRPr sz="5900"/>
          </a:p>
        </p:txBody>
      </p:sp>
      <p:sp>
        <p:nvSpPr>
          <p:cNvPr id="8" name="object 8" descr=""/>
          <p:cNvSpPr/>
          <p:nvPr/>
        </p:nvSpPr>
        <p:spPr>
          <a:xfrm>
            <a:off x="15706" y="8025933"/>
            <a:ext cx="20080605" cy="463550"/>
          </a:xfrm>
          <a:custGeom>
            <a:avLst/>
            <a:gdLst/>
            <a:ahLst/>
            <a:cxnLst/>
            <a:rect l="l" t="t" r="r" b="b"/>
            <a:pathLst>
              <a:path w="20080605" h="463550">
                <a:moveTo>
                  <a:pt x="20080541" y="463336"/>
                </a:moveTo>
                <a:lnTo>
                  <a:pt x="0" y="463336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46333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5745081" y="7892818"/>
            <a:ext cx="8581390" cy="57531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600" spc="-65">
                <a:solidFill>
                  <a:srgbClr val="D8D8D8"/>
                </a:solidFill>
                <a:latin typeface="Arial MT"/>
                <a:cs typeface="Arial MT"/>
              </a:rPr>
              <a:t>Objective:</a:t>
            </a:r>
            <a:r>
              <a:rPr dirty="0" sz="3600" spc="-185">
                <a:solidFill>
                  <a:srgbClr val="D8D8D8"/>
                </a:solidFill>
                <a:latin typeface="Arial MT"/>
                <a:cs typeface="Arial MT"/>
              </a:rPr>
              <a:t> </a:t>
            </a:r>
            <a:r>
              <a:rPr dirty="0" sz="3600" spc="-85">
                <a:solidFill>
                  <a:srgbClr val="7C9759"/>
                </a:solidFill>
                <a:latin typeface="Arial MT"/>
                <a:cs typeface="Arial MT"/>
              </a:rPr>
              <a:t>Maximize</a:t>
            </a:r>
            <a:r>
              <a:rPr dirty="0" sz="3600" spc="-160">
                <a:solidFill>
                  <a:srgbClr val="7C9759"/>
                </a:solidFill>
                <a:latin typeface="Arial MT"/>
                <a:cs typeface="Arial MT"/>
              </a:rPr>
              <a:t> </a:t>
            </a:r>
            <a:r>
              <a:rPr dirty="0" sz="3600" spc="-60">
                <a:solidFill>
                  <a:srgbClr val="E2EFB5"/>
                </a:solidFill>
                <a:latin typeface="Arial MT"/>
                <a:cs typeface="Arial MT"/>
              </a:rPr>
              <a:t>output,</a:t>
            </a:r>
            <a:r>
              <a:rPr dirty="0" sz="3600" spc="-190">
                <a:solidFill>
                  <a:srgbClr val="E2EFB5"/>
                </a:solidFill>
                <a:latin typeface="Arial MT"/>
                <a:cs typeface="Arial MT"/>
              </a:rPr>
              <a:t> </a:t>
            </a:r>
            <a:r>
              <a:rPr dirty="0" sz="3600" spc="-65">
                <a:solidFill>
                  <a:srgbClr val="829748"/>
                </a:solidFill>
                <a:latin typeface="Arial MT"/>
                <a:cs typeface="Arial MT"/>
              </a:rPr>
              <a:t>minimize</a:t>
            </a:r>
            <a:r>
              <a:rPr dirty="0" sz="3600" spc="-30">
                <a:solidFill>
                  <a:srgbClr val="829748"/>
                </a:solidFill>
                <a:latin typeface="Arial MT"/>
                <a:cs typeface="Arial MT"/>
              </a:rPr>
              <a:t> </a:t>
            </a:r>
            <a:r>
              <a:rPr dirty="0" sz="3600" spc="-100">
                <a:solidFill>
                  <a:srgbClr val="F6FFCF"/>
                </a:solidFill>
                <a:latin typeface="Arial MT"/>
                <a:cs typeface="Arial MT"/>
              </a:rPr>
              <a:t>waste.</a:t>
            </a:r>
            <a:endParaRPr sz="36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706" y="3314035"/>
            <a:ext cx="20088393" cy="1225093"/>
          </a:xfrm>
          <a:prstGeom prst="rect">
            <a:avLst/>
          </a:prstGeom>
        </p:spPr>
      </p:pic>
      <p:sp>
        <p:nvSpPr>
          <p:cNvPr id="3" name="object 3" descr=""/>
          <p:cNvSpPr/>
          <p:nvPr/>
        </p:nvSpPr>
        <p:spPr>
          <a:xfrm>
            <a:off x="17308372" y="10770614"/>
            <a:ext cx="2356485" cy="0"/>
          </a:xfrm>
          <a:custGeom>
            <a:avLst/>
            <a:gdLst/>
            <a:ahLst/>
            <a:cxnLst/>
            <a:rect l="l" t="t" r="r" b="b"/>
            <a:pathLst>
              <a:path w="2356484" h="0">
                <a:moveTo>
                  <a:pt x="0" y="0"/>
                </a:moveTo>
                <a:lnTo>
                  <a:pt x="2355949" y="0"/>
                </a:lnTo>
              </a:path>
            </a:pathLst>
          </a:custGeom>
          <a:ln w="39265">
            <a:solidFill>
              <a:srgbClr val="000803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5706" y="5528627"/>
            <a:ext cx="20080605" cy="510540"/>
          </a:xfrm>
          <a:custGeom>
            <a:avLst/>
            <a:gdLst/>
            <a:ahLst/>
            <a:cxnLst/>
            <a:rect l="l" t="t" r="r" b="b"/>
            <a:pathLst>
              <a:path w="20080605" h="510539">
                <a:moveTo>
                  <a:pt x="20080541" y="510455"/>
                </a:moveTo>
                <a:lnTo>
                  <a:pt x="0" y="51045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51045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5384392" y="5418417"/>
            <a:ext cx="9332595" cy="594995"/>
          </a:xfrm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700" spc="-80">
                <a:solidFill>
                  <a:srgbClr val="F0F0F0"/>
                </a:solidFill>
              </a:rPr>
              <a:t>Ready</a:t>
            </a:r>
            <a:r>
              <a:rPr dirty="0" sz="3700" spc="30">
                <a:solidFill>
                  <a:srgbClr val="F0F0F0"/>
                </a:solidFill>
              </a:rPr>
              <a:t> </a:t>
            </a:r>
            <a:r>
              <a:rPr dirty="0" sz="3700" spc="55">
                <a:solidFill>
                  <a:srgbClr val="FFFFFF"/>
                </a:solidFill>
              </a:rPr>
              <a:t>to</a:t>
            </a:r>
            <a:r>
              <a:rPr dirty="0" sz="3700" spc="-260">
                <a:solidFill>
                  <a:srgbClr val="FFFFFF"/>
                </a:solidFill>
              </a:rPr>
              <a:t> </a:t>
            </a:r>
            <a:r>
              <a:rPr dirty="0" sz="3700" spc="-40">
                <a:solidFill>
                  <a:srgbClr val="FFFFFF"/>
                </a:solidFill>
              </a:rPr>
              <a:t>unlock</a:t>
            </a:r>
            <a:r>
              <a:rPr dirty="0" sz="3700" spc="30">
                <a:solidFill>
                  <a:srgbClr val="FFFFFF"/>
                </a:solidFill>
              </a:rPr>
              <a:t> </a:t>
            </a:r>
            <a:r>
              <a:rPr dirty="0" sz="3700">
                <a:solidFill>
                  <a:srgbClr val="F2F2F2"/>
                </a:solidFill>
              </a:rPr>
              <a:t>the</a:t>
            </a:r>
            <a:r>
              <a:rPr dirty="0" sz="3700" spc="-190">
                <a:solidFill>
                  <a:srgbClr val="F2F2F2"/>
                </a:solidFill>
              </a:rPr>
              <a:t> </a:t>
            </a:r>
            <a:r>
              <a:rPr dirty="0" sz="3700" spc="-10">
                <a:solidFill>
                  <a:srgbClr val="FFFFFF"/>
                </a:solidFill>
              </a:rPr>
              <a:t>future</a:t>
            </a:r>
            <a:r>
              <a:rPr dirty="0" sz="3700" spc="-170">
                <a:solidFill>
                  <a:srgbClr val="FFFFFF"/>
                </a:solidFill>
              </a:rPr>
              <a:t> </a:t>
            </a:r>
            <a:r>
              <a:rPr dirty="0" sz="3700">
                <a:solidFill>
                  <a:srgbClr val="EDEDED"/>
                </a:solidFill>
              </a:rPr>
              <a:t>of</a:t>
            </a:r>
            <a:r>
              <a:rPr dirty="0" sz="3700" spc="-100">
                <a:solidFill>
                  <a:srgbClr val="EDEDED"/>
                </a:solidFill>
              </a:rPr>
              <a:t> </a:t>
            </a:r>
            <a:r>
              <a:rPr dirty="0" sz="3700" spc="-10">
                <a:solidFill>
                  <a:srgbClr val="FFFFFF"/>
                </a:solidFill>
              </a:rPr>
              <a:t>manufacturing?</a:t>
            </a:r>
            <a:endParaRPr sz="3700"/>
          </a:p>
        </p:txBody>
      </p:sp>
      <p:sp>
        <p:nvSpPr>
          <p:cNvPr id="6" name="object 6" descr=""/>
          <p:cNvSpPr/>
          <p:nvPr/>
        </p:nvSpPr>
        <p:spPr>
          <a:xfrm>
            <a:off x="15706" y="7617569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5706" y="7994521"/>
            <a:ext cx="20080605" cy="322580"/>
          </a:xfrm>
          <a:custGeom>
            <a:avLst/>
            <a:gdLst/>
            <a:ahLst/>
            <a:cxnLst/>
            <a:rect l="l" t="t" r="r" b="b"/>
            <a:pathLst>
              <a:path w="20080605" h="322579">
                <a:moveTo>
                  <a:pt x="20080541" y="321979"/>
                </a:moveTo>
                <a:lnTo>
                  <a:pt x="0" y="321979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3219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6331695" y="7521756"/>
            <a:ext cx="7477125" cy="77914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6685">
              <a:lnSpc>
                <a:spcPts val="2905"/>
              </a:lnSpc>
              <a:spcBef>
                <a:spcPts val="95"/>
              </a:spcBef>
            </a:pPr>
            <a:r>
              <a:rPr dirty="0" sz="2450" spc="-35">
                <a:solidFill>
                  <a:srgbClr val="B1B1B1"/>
                </a:solidFill>
                <a:latin typeface="Arial MT"/>
                <a:cs typeface="Arial MT"/>
              </a:rPr>
              <a:t>Prepared</a:t>
            </a:r>
            <a:r>
              <a:rPr dirty="0" sz="2450" spc="-70">
                <a:solidFill>
                  <a:srgbClr val="B1B1B1"/>
                </a:solidFill>
                <a:latin typeface="Arial MT"/>
                <a:cs typeface="Arial MT"/>
              </a:rPr>
              <a:t> </a:t>
            </a:r>
            <a:r>
              <a:rPr dirty="0" sz="2450" spc="-50">
                <a:solidFill>
                  <a:srgbClr val="AEAEAE"/>
                </a:solidFill>
                <a:latin typeface="Arial MT"/>
                <a:cs typeface="Arial MT"/>
              </a:rPr>
              <a:t>by.</a:t>
            </a:r>
            <a:r>
              <a:rPr dirty="0" sz="2450" spc="-114">
                <a:solidFill>
                  <a:srgbClr val="AEAEAE"/>
                </a:solidFill>
                <a:latin typeface="Arial MT"/>
                <a:cs typeface="Arial MT"/>
              </a:rPr>
              <a:t> </a:t>
            </a:r>
            <a:r>
              <a:rPr dirty="0" sz="2450" spc="-10">
                <a:solidFill>
                  <a:srgbClr val="B3B3B3"/>
                </a:solidFill>
                <a:latin typeface="Arial MT"/>
                <a:cs typeface="Arial MT"/>
              </a:rPr>
              <a:t>Kamal</a:t>
            </a:r>
            <a:r>
              <a:rPr dirty="0" sz="2450" spc="-155">
                <a:solidFill>
                  <a:srgbClr val="B3B3B3"/>
                </a:solidFill>
                <a:latin typeface="Arial MT"/>
                <a:cs typeface="Arial MT"/>
              </a:rPr>
              <a:t> </a:t>
            </a:r>
            <a:r>
              <a:rPr dirty="0" sz="2450" spc="-75">
                <a:solidFill>
                  <a:srgbClr val="A8A8A8"/>
                </a:solidFill>
                <a:latin typeface="Arial MT"/>
                <a:cs typeface="Arial MT"/>
              </a:rPr>
              <a:t>Hossain,</a:t>
            </a:r>
            <a:r>
              <a:rPr dirty="0" sz="2450" spc="-95">
                <a:solidFill>
                  <a:srgbClr val="A8A8A8"/>
                </a:solidFill>
                <a:latin typeface="Arial MT"/>
                <a:cs typeface="Arial MT"/>
              </a:rPr>
              <a:t> </a:t>
            </a:r>
            <a:r>
              <a:rPr dirty="0" sz="2450" spc="-45">
                <a:solidFill>
                  <a:srgbClr val="AFAFAF"/>
                </a:solidFill>
                <a:latin typeface="Arial MT"/>
                <a:cs typeface="Arial MT"/>
              </a:rPr>
              <a:t>Humayun,</a:t>
            </a:r>
            <a:r>
              <a:rPr dirty="0" sz="2450" spc="-35">
                <a:solidFill>
                  <a:srgbClr val="AFAFAF"/>
                </a:solidFill>
                <a:latin typeface="Arial MT"/>
                <a:cs typeface="Arial MT"/>
              </a:rPr>
              <a:t> </a:t>
            </a:r>
            <a:r>
              <a:rPr dirty="0" sz="2450">
                <a:solidFill>
                  <a:srgbClr val="AAAAAA"/>
                </a:solidFill>
                <a:latin typeface="Arial MT"/>
                <a:cs typeface="Arial MT"/>
              </a:rPr>
              <a:t>Sandil</a:t>
            </a:r>
            <a:r>
              <a:rPr dirty="0" sz="2450" spc="-50">
                <a:solidFill>
                  <a:srgbClr val="AAAAAA"/>
                </a:solidFill>
                <a:latin typeface="Arial MT"/>
                <a:cs typeface="Arial MT"/>
              </a:rPr>
              <a:t> </a:t>
            </a:r>
            <a:r>
              <a:rPr dirty="0" sz="2450" spc="-20">
                <a:solidFill>
                  <a:srgbClr val="AAAAAA"/>
                </a:solidFill>
                <a:latin typeface="Arial MT"/>
                <a:cs typeface="Arial MT"/>
              </a:rPr>
              <a:t>Azad</a:t>
            </a:r>
            <a:endParaRPr sz="2450">
              <a:latin typeface="Arial MT"/>
              <a:cs typeface="Arial MT"/>
            </a:endParaRPr>
          </a:p>
          <a:p>
            <a:pPr marL="12700">
              <a:lnSpc>
                <a:spcPts val="3025"/>
              </a:lnSpc>
            </a:pPr>
            <a:r>
              <a:rPr dirty="0" sz="2550" spc="-50">
                <a:solidFill>
                  <a:srgbClr val="BABABA"/>
                </a:solidFill>
                <a:latin typeface="Arial MT"/>
                <a:cs typeface="Arial MT"/>
                <a:hlinkClick r:id="rId3"/>
              </a:rPr>
              <a:t>www.yourcompany.com</a:t>
            </a:r>
            <a:r>
              <a:rPr dirty="0" sz="2550" spc="-114">
                <a:solidFill>
                  <a:srgbClr val="BABABA"/>
                </a:solidFill>
                <a:latin typeface="Arial MT"/>
                <a:cs typeface="Arial MT"/>
              </a:rPr>
              <a:t> </a:t>
            </a:r>
            <a:r>
              <a:rPr dirty="0" sz="2550" spc="-260">
                <a:solidFill>
                  <a:srgbClr val="757260"/>
                </a:solidFill>
                <a:latin typeface="Arial MT"/>
                <a:cs typeface="Arial MT"/>
              </a:rPr>
              <a:t>|</a:t>
            </a:r>
            <a:r>
              <a:rPr dirty="0" sz="2550" spc="155">
                <a:solidFill>
                  <a:srgbClr val="757260"/>
                </a:solidFill>
                <a:latin typeface="Arial MT"/>
                <a:cs typeface="Arial MT"/>
              </a:rPr>
              <a:t> </a:t>
            </a:r>
            <a:r>
              <a:rPr dirty="0" sz="2550" spc="-45">
                <a:solidFill>
                  <a:srgbClr val="B1B1B1"/>
                </a:solidFill>
                <a:latin typeface="Arial MT"/>
                <a:cs typeface="Arial MT"/>
                <a:hlinkClick r:id="rId4"/>
              </a:rPr>
              <a:t>contact@yourcompany.com</a:t>
            </a:r>
            <a:endParaRPr sz="2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15706" y="1115149"/>
            <a:ext cx="20080605" cy="746125"/>
          </a:xfrm>
          <a:custGeom>
            <a:avLst/>
            <a:gdLst/>
            <a:ahLst/>
            <a:cxnLst/>
            <a:rect l="l" t="t" r="r" b="b"/>
            <a:pathLst>
              <a:path w="20080605" h="746125">
                <a:moveTo>
                  <a:pt x="20080541" y="746050"/>
                </a:moveTo>
                <a:lnTo>
                  <a:pt x="0" y="746050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7460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61147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pc="155">
                <a:solidFill>
                  <a:srgbClr val="DDFF9C"/>
                </a:solidFill>
              </a:rPr>
              <a:t>Image</a:t>
            </a:r>
            <a:r>
              <a:rPr dirty="0" spc="150">
                <a:solidFill>
                  <a:srgbClr val="DDFF9C"/>
                </a:solidFill>
              </a:rPr>
              <a:t> </a:t>
            </a:r>
            <a:r>
              <a:rPr dirty="0" spc="-130"/>
              <a:t>Sources</a:t>
            </a:r>
          </a:p>
        </p:txBody>
      </p:sp>
      <p:grpSp>
        <p:nvGrpSpPr>
          <p:cNvPr id="4" name="object 4" descr=""/>
          <p:cNvGrpSpPr/>
          <p:nvPr/>
        </p:nvGrpSpPr>
        <p:grpSpPr>
          <a:xfrm>
            <a:off x="15706" y="3800931"/>
            <a:ext cx="20080605" cy="558165"/>
            <a:chOff x="15706" y="3800931"/>
            <a:chExt cx="20080605" cy="55816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42379" y="3926582"/>
              <a:ext cx="251301" cy="25130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706" y="3800931"/>
              <a:ext cx="20080605" cy="558165"/>
            </a:xfrm>
            <a:custGeom>
              <a:avLst/>
              <a:gdLst/>
              <a:ahLst/>
              <a:cxnLst/>
              <a:rect l="l" t="t" r="r" b="b"/>
              <a:pathLst>
                <a:path w="20080605" h="558164">
                  <a:moveTo>
                    <a:pt x="20080541" y="557574"/>
                  </a:moveTo>
                  <a:lnTo>
                    <a:pt x="0" y="557574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55757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1190935" y="3710964"/>
            <a:ext cx="17995265" cy="638810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1558925">
              <a:lnSpc>
                <a:spcPct val="100000"/>
              </a:lnSpc>
              <a:spcBef>
                <a:spcPts val="355"/>
              </a:spcBef>
            </a:pP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https://cdn</a:t>
            </a:r>
            <a:r>
              <a:rPr dirty="0" sz="1650" spc="11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50">
                <a:solidFill>
                  <a:srgbClr val="FFFFFF"/>
                </a:solidFill>
                <a:latin typeface="Arial MT"/>
                <a:cs typeface="Arial MT"/>
              </a:rPr>
              <a:t>shopify</a:t>
            </a:r>
            <a:r>
              <a:rPr dirty="0" sz="1650" spc="42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10">
                <a:solidFill>
                  <a:srgbClr val="FFFFFF"/>
                </a:solidFill>
                <a:latin typeface="Arial MT"/>
                <a:cs typeface="Arial MT"/>
              </a:rPr>
              <a:t>com/s/ftles/)/0044/)SS2/0842/files/A_modern_porment_foctory_with_interconnected_mochines_AI_robots_ond_smort_devices_workinp_seomlessly_)024x)02</a:t>
            </a:r>
            <a:endParaRPr sz="165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dirty="0" sz="1900" spc="270">
                <a:solidFill>
                  <a:srgbClr val="F0F0F0"/>
                </a:solidFill>
                <a:latin typeface="Arial MT"/>
                <a:cs typeface="Arial MT"/>
              </a:rPr>
              <a:t>Thumbnail</a:t>
            </a:r>
            <a:r>
              <a:rPr dirty="0" sz="1900" spc="240">
                <a:solidFill>
                  <a:srgbClr val="F0F0F0"/>
                </a:solidFill>
                <a:latin typeface="Arial MT"/>
                <a:cs typeface="Arial MT"/>
              </a:rPr>
              <a:t> </a:t>
            </a:r>
            <a:r>
              <a:rPr dirty="0" sz="1900" spc="-155">
                <a:solidFill>
                  <a:srgbClr val="FFFFFF"/>
                </a:solidFill>
                <a:latin typeface="Arial MT"/>
                <a:cs typeface="Arial MT"/>
              </a:rPr>
              <a:t>4.jpg8v=)73)S600S)</a:t>
            </a:r>
            <a:endParaRPr sz="1900">
              <a:latin typeface="Arial MT"/>
              <a:cs typeface="Arial MT"/>
            </a:endParaRPr>
          </a:p>
        </p:txBody>
      </p:sp>
      <p:sp>
        <p:nvSpPr>
          <p:cNvPr id="8" name="object 8" descr=""/>
          <p:cNvSpPr/>
          <p:nvPr/>
        </p:nvSpPr>
        <p:spPr>
          <a:xfrm>
            <a:off x="15706" y="4539128"/>
            <a:ext cx="20080605" cy="259715"/>
          </a:xfrm>
          <a:custGeom>
            <a:avLst/>
            <a:gdLst/>
            <a:ahLst/>
            <a:cxnLst/>
            <a:rect l="l" t="t" r="r" b="b"/>
            <a:pathLst>
              <a:path w="20080605" h="259714">
                <a:moveTo>
                  <a:pt x="20080541" y="259154"/>
                </a:moveTo>
                <a:lnTo>
                  <a:pt x="0" y="259154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5915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/>
          <p:nvPr/>
        </p:nvSpPr>
        <p:spPr>
          <a:xfrm>
            <a:off x="934496" y="4442661"/>
            <a:ext cx="400050" cy="41846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550" spc="-25">
                <a:solidFill>
                  <a:srgbClr val="EBEBEB"/>
                </a:solidFill>
                <a:latin typeface="Arial MT"/>
                <a:cs typeface="Arial MT"/>
              </a:rPr>
              <a:t>for</a:t>
            </a:r>
            <a:endParaRPr sz="255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739854" y="4492398"/>
            <a:ext cx="827405" cy="3397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050" spc="-105">
                <a:solidFill>
                  <a:srgbClr val="F2F2F2"/>
                </a:solidFill>
                <a:latin typeface="Arial MT"/>
                <a:cs typeface="Arial MT"/>
              </a:rPr>
              <a:t>Source.</a:t>
            </a:r>
            <a:endParaRPr sz="2050">
              <a:latin typeface="Arial MT"/>
              <a:cs typeface="Arial MT"/>
            </a:endParaRPr>
          </a:p>
        </p:txBody>
      </p:sp>
      <p:grpSp>
        <p:nvGrpSpPr>
          <p:cNvPr id="11" name="object 11" descr=""/>
          <p:cNvGrpSpPr/>
          <p:nvPr/>
        </p:nvGrpSpPr>
        <p:grpSpPr>
          <a:xfrm>
            <a:off x="15706" y="5041731"/>
            <a:ext cx="20080605" cy="1139190"/>
            <a:chOff x="15706" y="5041731"/>
            <a:chExt cx="20080605" cy="1139190"/>
          </a:xfrm>
        </p:grpSpPr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42379" y="5387270"/>
              <a:ext cx="1413569" cy="785316"/>
            </a:xfrm>
            <a:prstGeom prst="rect">
              <a:avLst/>
            </a:prstGeom>
          </p:spPr>
        </p:pic>
        <p:sp>
          <p:nvSpPr>
            <p:cNvPr id="13" name="object 13" descr=""/>
            <p:cNvSpPr/>
            <p:nvPr/>
          </p:nvSpPr>
          <p:spPr>
            <a:xfrm>
              <a:off x="15706" y="5041731"/>
              <a:ext cx="20080605" cy="1139190"/>
            </a:xfrm>
            <a:custGeom>
              <a:avLst/>
              <a:gdLst/>
              <a:ahLst/>
              <a:cxnLst/>
              <a:rect l="l" t="t" r="r" b="b"/>
              <a:pathLst>
                <a:path w="20080605" h="1139189">
                  <a:moveTo>
                    <a:pt x="20080541" y="1138708"/>
                  </a:moveTo>
                  <a:lnTo>
                    <a:pt x="0" y="1138708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113870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4" name="object 14" descr=""/>
          <p:cNvSpPr txBox="1"/>
          <p:nvPr/>
        </p:nvSpPr>
        <p:spPr>
          <a:xfrm>
            <a:off x="926148" y="4898418"/>
            <a:ext cx="8849995" cy="1218565"/>
          </a:xfrm>
          <a:prstGeom prst="rect">
            <a:avLst/>
          </a:prstGeom>
        </p:spPr>
        <p:txBody>
          <a:bodyPr wrap="square" lIns="0" tIns="755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95"/>
              </a:spcBef>
            </a:pPr>
            <a:r>
              <a:rPr dirty="0" sz="2450" spc="-10">
                <a:solidFill>
                  <a:srgbClr val="F2F2F2"/>
                </a:solidFill>
                <a:latin typeface="Arial MT"/>
                <a:cs typeface="Arial MT"/>
              </a:rPr>
              <a:t>everlighten.com</a:t>
            </a:r>
            <a:endParaRPr sz="2450">
              <a:latin typeface="Arial MT"/>
              <a:cs typeface="Arial MT"/>
            </a:endParaRPr>
          </a:p>
          <a:p>
            <a:pPr marL="1824989">
              <a:lnSpc>
                <a:spcPct val="100000"/>
              </a:lnSpc>
              <a:spcBef>
                <a:spcPts val="310"/>
              </a:spcBef>
            </a:pPr>
            <a:r>
              <a:rPr dirty="0" sz="1550" spc="65">
                <a:solidFill>
                  <a:srgbClr val="EDEDED"/>
                </a:solidFill>
                <a:latin typeface="Arial MT"/>
                <a:cs typeface="Arial MT"/>
              </a:rPr>
              <a:t>https://www</a:t>
            </a:r>
            <a:r>
              <a:rPr dirty="0" sz="1550" spc="320">
                <a:solidFill>
                  <a:srgbClr val="EDEDED"/>
                </a:solidFill>
                <a:latin typeface="Arial MT"/>
                <a:cs typeface="Arial MT"/>
              </a:rPr>
              <a:t>    </a:t>
            </a:r>
            <a:r>
              <a:rPr dirty="0" sz="1550">
                <a:solidFill>
                  <a:srgbClr val="FFFFFF"/>
                </a:solidFill>
                <a:latin typeface="Arial MT"/>
                <a:cs typeface="Arial MT"/>
              </a:rPr>
              <a:t>esri.com/orcgis-blog/wp-</a:t>
            </a:r>
            <a:r>
              <a:rPr dirty="0" sz="1550" spc="-10">
                <a:solidFill>
                  <a:srgbClr val="FFFFFF"/>
                </a:solidFill>
                <a:latin typeface="Arial MT"/>
                <a:cs typeface="Arial MT"/>
              </a:rPr>
              <a:t>content/uploads/2022/04/Picture).png</a:t>
            </a:r>
            <a:endParaRPr sz="1550">
              <a:latin typeface="Arial MT"/>
              <a:cs typeface="Arial MT"/>
            </a:endParaRPr>
          </a:p>
          <a:p>
            <a:pPr marL="1826895">
              <a:lnSpc>
                <a:spcPct val="100000"/>
              </a:lnSpc>
              <a:spcBef>
                <a:spcPts val="1500"/>
              </a:spcBef>
            </a:pPr>
            <a:r>
              <a:rPr dirty="0" sz="1900" spc="-10">
                <a:solidFill>
                  <a:srgbClr val="FFFFFF"/>
                </a:solidFill>
                <a:latin typeface="Arial MT"/>
                <a:cs typeface="Arial MT"/>
              </a:rPr>
              <a:t>Source.</a:t>
            </a:r>
            <a:endParaRPr sz="1900">
              <a:latin typeface="Arial MT"/>
              <a:cs typeface="Arial MT"/>
            </a:endParaRPr>
          </a:p>
        </p:txBody>
      </p:sp>
      <p:grpSp>
        <p:nvGrpSpPr>
          <p:cNvPr id="15" name="object 15" descr=""/>
          <p:cNvGrpSpPr/>
          <p:nvPr/>
        </p:nvGrpSpPr>
        <p:grpSpPr>
          <a:xfrm>
            <a:off x="15706" y="6722308"/>
            <a:ext cx="20080605" cy="966469"/>
            <a:chOff x="15706" y="6722308"/>
            <a:chExt cx="20080605" cy="966469"/>
          </a:xfrm>
        </p:grpSpPr>
        <p:pic>
          <p:nvPicPr>
            <p:cNvPr id="16" name="object 16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82156" y="6847958"/>
              <a:ext cx="973792" cy="706784"/>
            </a:xfrm>
            <a:prstGeom prst="rect">
              <a:avLst/>
            </a:prstGeom>
          </p:spPr>
        </p:pic>
        <p:sp>
          <p:nvSpPr>
            <p:cNvPr id="17" name="object 17" descr=""/>
            <p:cNvSpPr/>
            <p:nvPr/>
          </p:nvSpPr>
          <p:spPr>
            <a:xfrm>
              <a:off x="15706" y="6722308"/>
              <a:ext cx="20080605" cy="966469"/>
            </a:xfrm>
            <a:custGeom>
              <a:avLst/>
              <a:gdLst/>
              <a:ahLst/>
              <a:cxnLst/>
              <a:rect l="l" t="t" r="r" b="b"/>
              <a:pathLst>
                <a:path w="20080605" h="966470">
                  <a:moveTo>
                    <a:pt x="20080541" y="965939"/>
                  </a:moveTo>
                  <a:lnTo>
                    <a:pt x="0" y="965939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9659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8" name="object 18" descr=""/>
          <p:cNvSpPr txBox="1"/>
          <p:nvPr/>
        </p:nvSpPr>
        <p:spPr>
          <a:xfrm>
            <a:off x="1231320" y="6975961"/>
            <a:ext cx="145415" cy="28067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650" spc="-50">
                <a:solidFill>
                  <a:srgbClr val="1A82B5"/>
                </a:solidFill>
                <a:latin typeface="Arial MT"/>
                <a:cs typeface="Arial MT"/>
              </a:rPr>
              <a:t>_</a:t>
            </a:r>
            <a:endParaRPr sz="1650">
              <a:latin typeface="Arial MT"/>
              <a:cs typeface="Arial MT"/>
            </a:endParaRPr>
          </a:p>
        </p:txBody>
      </p:sp>
      <p:sp>
        <p:nvSpPr>
          <p:cNvPr id="19" name="object 19" descr=""/>
          <p:cNvSpPr txBox="1"/>
          <p:nvPr/>
        </p:nvSpPr>
        <p:spPr>
          <a:xfrm>
            <a:off x="2737592" y="6602936"/>
            <a:ext cx="16393160" cy="113855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7780" marR="5080" indent="-5715">
              <a:lnSpc>
                <a:spcPct val="124900"/>
              </a:lnSpc>
              <a:spcBef>
                <a:spcPts val="95"/>
              </a:spcBef>
            </a:pP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https://png</a:t>
            </a:r>
            <a:r>
              <a:rPr dirty="0" sz="1650" spc="140">
                <a:solidFill>
                  <a:srgbClr val="FFFFFF"/>
                </a:solidFill>
                <a:latin typeface="Arial MT"/>
                <a:cs typeface="Arial MT"/>
              </a:rPr>
              <a:t>  </a:t>
            </a:r>
            <a:r>
              <a:rPr dirty="0" sz="1650" spc="-10">
                <a:solidFill>
                  <a:srgbClr val="FFFFFF"/>
                </a:solidFill>
                <a:latin typeface="Arial MT"/>
                <a:cs typeface="Arial MT"/>
              </a:rPr>
              <a:t>pngtree</a:t>
            </a:r>
            <a:r>
              <a:rPr dirty="0" sz="1650" spc="385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com/thumb_back/fh260/bockground/202S)O3O/pngtree-abstract-financial-growth-chart-with-upward-trend-on-blue-futuristic-background-</a:t>
            </a:r>
            <a:r>
              <a:rPr dirty="0" sz="1650" spc="-10">
                <a:solidFill>
                  <a:srgbClr val="FFFFFF"/>
                </a:solidFill>
                <a:latin typeface="Arial MT"/>
                <a:cs typeface="Arial MT"/>
              </a:rPr>
              <a:t>image_20)4)243.</a:t>
            </a:r>
            <a:r>
              <a:rPr dirty="0" sz="1650" spc="500">
                <a:solidFill>
                  <a:srgbClr val="FFFFFF"/>
                </a:solidFill>
                <a:latin typeface="Arial MT"/>
                <a:cs typeface="Arial MT"/>
              </a:rPr>
              <a:t> </a:t>
            </a:r>
            <a:r>
              <a:rPr dirty="0" sz="1650" spc="-20">
                <a:solidFill>
                  <a:srgbClr val="FFFFFF"/>
                </a:solidFill>
                <a:latin typeface="Arial MT"/>
                <a:cs typeface="Arial MT"/>
              </a:rPr>
              <a:t>webp</a:t>
            </a:r>
            <a:endParaRPr sz="1650">
              <a:latin typeface="Arial MT"/>
              <a:cs typeface="Arial MT"/>
            </a:endParaRPr>
          </a:p>
          <a:p>
            <a:pPr marL="13970">
              <a:lnSpc>
                <a:spcPct val="100000"/>
              </a:lnSpc>
              <a:spcBef>
                <a:spcPts val="1180"/>
              </a:spcBef>
            </a:pPr>
            <a:r>
              <a:rPr dirty="0" sz="2200" spc="-65">
                <a:solidFill>
                  <a:srgbClr val="FFFFFF"/>
                </a:solidFill>
                <a:latin typeface="Arial MT"/>
                <a:cs typeface="Arial MT"/>
              </a:rPr>
              <a:t>Source.</a:t>
            </a:r>
            <a:endParaRPr sz="2200">
              <a:latin typeface="Arial MT"/>
              <a:cs typeface="Arial MT"/>
            </a:endParaRPr>
          </a:p>
        </p:txBody>
      </p:sp>
      <p:grpSp>
        <p:nvGrpSpPr>
          <p:cNvPr id="20" name="object 20" descr=""/>
          <p:cNvGrpSpPr/>
          <p:nvPr/>
        </p:nvGrpSpPr>
        <p:grpSpPr>
          <a:xfrm>
            <a:off x="15706" y="8355766"/>
            <a:ext cx="20080605" cy="596900"/>
            <a:chOff x="15706" y="8355766"/>
            <a:chExt cx="20080605" cy="596900"/>
          </a:xfrm>
        </p:grpSpPr>
        <p:pic>
          <p:nvPicPr>
            <p:cNvPr id="21" name="object 21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437129" y="8512829"/>
              <a:ext cx="581134" cy="439777"/>
            </a:xfrm>
            <a:prstGeom prst="rect">
              <a:avLst/>
            </a:prstGeom>
          </p:spPr>
        </p:pic>
        <p:sp>
          <p:nvSpPr>
            <p:cNvPr id="22" name="object 22" descr=""/>
            <p:cNvSpPr/>
            <p:nvPr/>
          </p:nvSpPr>
          <p:spPr>
            <a:xfrm>
              <a:off x="15706" y="8355766"/>
              <a:ext cx="20080605" cy="589280"/>
            </a:xfrm>
            <a:custGeom>
              <a:avLst/>
              <a:gdLst/>
              <a:ahLst/>
              <a:cxnLst/>
              <a:rect l="l" t="t" r="r" b="b"/>
              <a:pathLst>
                <a:path w="20080605" h="589279">
                  <a:moveTo>
                    <a:pt x="20080541" y="588987"/>
                  </a:moveTo>
                  <a:lnTo>
                    <a:pt x="0" y="588987"/>
                  </a:lnTo>
                  <a:lnTo>
                    <a:pt x="0" y="0"/>
                  </a:lnTo>
                  <a:lnTo>
                    <a:pt x="20080541" y="0"/>
                  </a:lnTo>
                  <a:lnTo>
                    <a:pt x="20080541" y="588987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3" name="object 23" descr=""/>
          <p:cNvSpPr/>
          <p:nvPr/>
        </p:nvSpPr>
        <p:spPr>
          <a:xfrm>
            <a:off x="15706" y="9093964"/>
            <a:ext cx="20080605" cy="212090"/>
          </a:xfrm>
          <a:custGeom>
            <a:avLst/>
            <a:gdLst/>
            <a:ahLst/>
            <a:cxnLst/>
            <a:rect l="l" t="t" r="r" b="b"/>
            <a:pathLst>
              <a:path w="20080605" h="212090">
                <a:moveTo>
                  <a:pt x="20080541" y="212035"/>
                </a:moveTo>
                <a:lnTo>
                  <a:pt x="0" y="212035"/>
                </a:lnTo>
                <a:lnTo>
                  <a:pt x="0" y="0"/>
                </a:lnTo>
                <a:lnTo>
                  <a:pt x="20080541" y="0"/>
                </a:lnTo>
                <a:lnTo>
                  <a:pt x="20080541" y="2120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 descr=""/>
          <p:cNvSpPr txBox="1"/>
          <p:nvPr/>
        </p:nvSpPr>
        <p:spPr>
          <a:xfrm>
            <a:off x="2737592" y="8204981"/>
            <a:ext cx="16425544" cy="11506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4604" marR="5080" indent="-2540">
              <a:lnSpc>
                <a:spcPct val="131200"/>
              </a:lnSpc>
              <a:spcBef>
                <a:spcPts val="95"/>
              </a:spcBef>
            </a:pP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https://stotic.vecteezy.com/system/resources/previews/072/3JO/888/non_2x/abstroct-blue-cubes-ond-geometric-network-</a:t>
            </a:r>
            <a:r>
              <a:rPr dirty="0" sz="1650" spc="-10">
                <a:solidFill>
                  <a:srgbClr val="FFFFFF"/>
                </a:solidFill>
                <a:latin typeface="Arial MT"/>
                <a:cs typeface="Arial MT"/>
              </a:rPr>
              <a:t>doto-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vtsualizotion-on-dork-blue-background-</a:t>
            </a:r>
            <a:r>
              <a:rPr dirty="0" sz="1650" spc="-10">
                <a:solidFill>
                  <a:srgbClr val="FFFFFF"/>
                </a:solidFill>
                <a:latin typeface="Arial MT"/>
                <a:cs typeface="Arial MT"/>
              </a:rPr>
              <a:t>represen </a:t>
            </a:r>
            <a:r>
              <a:rPr dirty="0" sz="1650">
                <a:solidFill>
                  <a:srgbClr val="FFFFFF"/>
                </a:solidFill>
                <a:latin typeface="Arial MT"/>
                <a:cs typeface="Arial MT"/>
              </a:rPr>
              <a:t>tlng-technology-science-ond-of-concepts-</a:t>
            </a:r>
            <a:r>
              <a:rPr dirty="0" sz="1650" spc="-10">
                <a:solidFill>
                  <a:srgbClr val="FFFFFF"/>
                </a:solidFill>
                <a:latin typeface="Arial MT"/>
                <a:cs typeface="Arial MT"/>
              </a:rPr>
              <a:t>photo.jpg</a:t>
            </a:r>
            <a:endParaRPr sz="1650">
              <a:latin typeface="Arial MT"/>
              <a:cs typeface="Arial MT"/>
            </a:endParaRPr>
          </a:p>
          <a:p>
            <a:pPr marL="14604">
              <a:lnSpc>
                <a:spcPct val="100000"/>
              </a:lnSpc>
              <a:spcBef>
                <a:spcPts val="1205"/>
              </a:spcBef>
            </a:pPr>
            <a:r>
              <a:rPr dirty="0" sz="2050" spc="-10">
                <a:solidFill>
                  <a:srgbClr val="F2F2F2"/>
                </a:solidFill>
                <a:latin typeface="Arial MT"/>
                <a:cs typeface="Arial MT"/>
              </a:rPr>
              <a:t>Source.</a:t>
            </a:r>
            <a:endParaRPr sz="20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terms:created xsi:type="dcterms:W3CDTF">2025-12-30T05:31:00Z</dcterms:created>
  <dcterms:modified xsi:type="dcterms:W3CDTF">2025-12-30T05:31:00Z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2025-12-30T00:00:00Z</vt:filetime>
  </property>
  <property fmtid="{D5CDD505-2E9C-101B-9397-08002B2CF9AE}" pid="3" name="LastSaved">
    <vt:filetime>2025-12-30T00:00:00Z</vt:filetime>
  </property>
</Properties>
</file>